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1417320"/>
            <a:ext cx="91440" cy="2743200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89888" y="1389888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BFD7EA"/>
                </a:solidFill>
                <a:latin typeface="Arial"/>
                <a:ea typeface="PingFang TC"/>
                <a:cs typeface="PingFang TC"/>
              </a:rPr>
              <a:t>在職專班  |  六小時實作課程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9888" y="1901952"/>
            <a:ext cx="9875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5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文獻計量分析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9888" y="3127248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從選題到投稿骨架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393192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BFD7EA"/>
                </a:solidFill>
                <a:latin typeface="Arial"/>
                <a:ea typeface="PingFang TC"/>
                <a:cs typeface="PingFang TC"/>
              </a:rPr>
              <a:t>Web of Science  +  bibliometrix  (BiblioShiny)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4983480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2026 年 10 月 17 日（六）  09:00 - 16:00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講師：李政蒲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課程設計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六小時架構總覽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08176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5303520" cy="402336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819656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上午  09:00-12:00   建地基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58368" y="2231136"/>
          <a:ext cx="5303518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1898"/>
                <a:gridCol w="3569676"/>
                <a:gridCol w="611944"/>
              </a:tblGrid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時段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模組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分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09:00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為什麼現在要做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20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09:20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E86C00"/>
                          </a:solidFill>
                          <a:latin typeface="Arial"/>
                          <a:ea typeface="PingFang TC"/>
                          <a:cs typeface="PingFang TC"/>
                        </a:rPr>
                        <a:t>選題 x 檢索式 x 反向搜尋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50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10:25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WoS 下載到 BiblioShiny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50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11:15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投稿情報三連發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45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510528" y="1755648"/>
            <a:ext cx="5029200" cy="402336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819656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下午  13:00-16:00   動手工坊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510528" y="2231136"/>
          <a:ext cx="5029199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24"/>
                <a:gridCol w="3319272"/>
                <a:gridCol w="603503"/>
              </a:tblGrid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時段</a:t>
                      </a:r>
                    </a:p>
                  </a:txBody>
                  <a:tcPr marL="100584" marR="73152" marT="27432" marB="27432" anchor="ctr">
                    <a:solidFill>
                      <a:srgbClr val="27AE6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模組</a:t>
                      </a:r>
                    </a:p>
                  </a:txBody>
                  <a:tcPr marL="100584" marR="73152" marT="27432" marB="27432" anchor="ctr">
                    <a:solidFill>
                      <a:srgbClr val="27AE6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分</a:t>
                      </a:r>
                    </a:p>
                  </a:txBody>
                  <a:tcPr marL="100584" marR="73152" marT="27432" marB="27432" anchor="ctr">
                    <a:solidFill>
                      <a:srgbClr val="27AE60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13:10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五張圖判讀口訣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35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13:45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E86C00"/>
                          </a:solidFill>
                          <a:latin typeface="Arial"/>
                          <a:ea typeface="PingFang TC"/>
                          <a:cs typeface="PingFang TC"/>
                        </a:rPr>
                        <a:t>工坊一：跑自己的主題地圖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60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15:00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工坊二：情報表與詮釋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35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15:35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各組快報與收尾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25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658368" y="5440680"/>
            <a:ext cx="10881360" cy="749808"/>
          </a:xfrm>
          <a:prstGeom prst="rect">
            <a:avLst/>
          </a:prstGeom>
          <a:solidFill>
            <a:srgbClr val="F2F4F6"/>
          </a:solidFill>
          <a:ln w="15240">
            <a:solidFill>
              <a:srgbClr val="E8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55955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設計原則：上午講述比重高（建立判斷力），下午實作比重高（產出成品）。在職專班午後必睏，13:00 不排新概念。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課程設計｜閉環判準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結業交付：四件產出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08176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556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六小時結束時，每位學員手上必須有這四件實體產出。沒有這四件，等於課沒上完。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2231136"/>
          <a:ext cx="10881360" cy="305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834640"/>
                <a:gridCol w="75895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/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產出物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驗收標準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A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E86C00"/>
                          </a:solidFill>
                          <a:latin typeface="Arial"/>
                          <a:ea typeface="PingFang TC"/>
                          <a:cs typeface="PingFang TC"/>
                        </a:rPr>
                        <a:t>檢索式 + 反向搜尋結論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三版 query（寬鬆／普通／精簡）＋「真藍海／半藍海／撞題」三選一明確結論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B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E86C00"/>
                          </a:solidFill>
                          <a:latin typeface="Arial"/>
                          <a:ea typeface="PingFang TC"/>
                          <a:cs typeface="PingFang TC"/>
                        </a:rPr>
                        <a:t>主題地圖一張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用自己題目的資料跑出來的，不是講師示範檔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C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投稿情報表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期刊候選 3 名（含「這本還收不收」判斷）＋ 必引作者 10 人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D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圖配詮釋一段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針對 B 那張圖寫 150 字詮釋，含「對應哪個研究問題」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532120"/>
            <a:ext cx="10881360" cy="7132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64184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為什麼要強制產出：在職專班一天課最大的失敗模式是「聽懂了，回家沒做」。用產出把學習閉環鎖在課堂內。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874519"/>
            <a:ext cx="82296" cy="2286000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MODULE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304288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為什麼現在要做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401568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 i="0">
                <a:solidFill>
                  <a:srgbClr val="BFD7EA"/>
                </a:solidFill>
                <a:latin typeface="Arial"/>
                <a:ea typeface="PingFang TC"/>
                <a:cs typeface="PingFang TC"/>
              </a:rPr>
              <a:t>三個痛點，一個解法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4343400"/>
            <a:ext cx="1691640" cy="420624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425696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20 分鐘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今天為什麼是我代課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26464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陳世文教授今天要去參加全國數位競賽評審會議。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020824"/>
            <a:ext cx="530352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020824"/>
            <a:ext cx="5303520" cy="47548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112264"/>
            <a:ext cx="490118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課程不打折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679191"/>
            <a:ext cx="4828031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內容與進度都與教授討論過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教材經教授審閱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有問題我會帶回去請教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2020824"/>
            <a:ext cx="530352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2020824"/>
            <a:ext cx="5303520" cy="47548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2112264"/>
            <a:ext cx="490118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今天的重點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679191"/>
            <a:ext cx="4828031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不只是教一套軟體操作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27AE60"/>
                </a:solidFill>
                <a:latin typeface="Arial"/>
                <a:ea typeface="PingFang TC"/>
                <a:cs typeface="PingFang TC"/>
              </a:rPr>
              <a:t>而是把你論文第二章的文獻庫建起來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69664"/>
            <a:ext cx="10881360" cy="914400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37083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所以今天請用「你自己的研究主題」操作，不要只跟著示範檔跑。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先問三個問題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26464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符合以下任一狀況的，請舉手。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75104"/>
            <a:ext cx="342900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975104"/>
            <a:ext cx="3429000" cy="56692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093976"/>
            <a:ext cx="3429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問題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52344"/>
            <a:ext cx="29260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600" b="1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有誰的文獻探討寫到一半卡住，
不知道還缺什麼？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9976" y="1975104"/>
            <a:ext cx="342900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9976" y="1975104"/>
            <a:ext cx="3429000" cy="56692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9976" y="2093976"/>
            <a:ext cx="3429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問題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752344"/>
            <a:ext cx="29260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600" b="1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有誰投稿前不確定
該投哪一本期刊？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01584" y="1975104"/>
            <a:ext cx="342900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01584" y="1975104"/>
            <a:ext cx="3429000" cy="56692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01584" y="2093976"/>
            <a:ext cx="3429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問題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2752344"/>
            <a:ext cx="29260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600" b="1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有誰不知道自己領域的
「不能不引」是哪幾個人？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5486400"/>
            <a:ext cx="10881360" cy="777240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61441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文獻計量分析一次解決這三件事——而且是一魚三吃。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一魚三吃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26464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同一份工作，三種回報。這是它跟其他研究方法最不一樣的地方。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75104"/>
            <a:ext cx="342900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975104"/>
            <a:ext cx="3429000" cy="47548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066544"/>
            <a:ext cx="30266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吃法一：一篇論文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633472"/>
            <a:ext cx="2953512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本身就是一篇可投稿的研究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SSCI 期刊持續在收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不需要收案、不需要實驗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資料來源公開可複現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975104"/>
            <a:ext cx="342900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8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975104"/>
            <a:ext cx="3429000" cy="47548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066544"/>
            <a:ext cx="30266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吃法二：文獻探討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2633472"/>
            <a:ext cx="2953512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同時把學位論文的文獻探討寫了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主題地圖直接變成架構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不會漏掉重要次領域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「我讀過全領域」有憑據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9872" y="1975104"/>
            <a:ext cx="3419856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9872" y="1975104"/>
            <a:ext cx="3419856" cy="47548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066544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吃法三：投稿情報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2633472"/>
            <a:ext cx="2944368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該投哪本期刊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這本還收不收這主題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誰是不能不引的人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這題的地理重心在哪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我們在跟時間賽跑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26464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這套技術的門檻正在快速降低。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020824"/>
            <a:ext cx="2569464" cy="1188720"/>
          </a:xfrm>
          <a:prstGeom prst="rect">
            <a:avLst/>
          </a:prstGeom>
          <a:solidFill>
            <a:srgbClr val="F2F4F6"/>
          </a:solidFill>
          <a:ln w="1524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185416"/>
            <a:ext cx="25694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三年前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715768"/>
            <a:ext cx="235000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要會寫 R 程式碼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2020824"/>
            <a:ext cx="2569464" cy="1188720"/>
          </a:xfrm>
          <a:prstGeom prst="rect">
            <a:avLst/>
          </a:prstGeom>
          <a:solidFill>
            <a:srgbClr val="F2F4F6"/>
          </a:solidFill>
          <a:ln w="1524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2185416"/>
            <a:ext cx="25694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現在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2715768"/>
            <a:ext cx="235000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點滑鼠就能跑完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2020824"/>
            <a:ext cx="2569464" cy="1188720"/>
          </a:xfrm>
          <a:prstGeom prst="rect">
            <a:avLst/>
          </a:prstGeom>
          <a:solidFill>
            <a:srgbClr val="F2F4F6"/>
          </a:solidFill>
          <a:ln w="1524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2" y="2185416"/>
            <a:ext cx="25694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門檻降低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715768"/>
            <a:ext cx="235000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做的人暴增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70264" y="2020824"/>
            <a:ext cx="2569464" cy="1188720"/>
          </a:xfrm>
          <a:prstGeom prst="rect">
            <a:avLst/>
          </a:prstGeom>
          <a:solidFill>
            <a:srgbClr val="F2F4F6"/>
          </a:solidFill>
          <a:ln w="1524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70264" y="2185416"/>
            <a:ext cx="25694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結果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9992" y="2715768"/>
            <a:ext cx="235000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藍海變紅海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483864"/>
            <a:ext cx="10881360" cy="1417320"/>
          </a:xfrm>
          <a:prstGeom prst="rect">
            <a:avLst/>
          </a:prstGeom>
          <a:solidFill>
            <a:srgbClr val="F2F4F6"/>
          </a:solidFill>
          <a:ln w="19050">
            <a:solidFill>
              <a:srgbClr val="E8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694176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「我們要跟時間賽跑。」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所以今天不是「學個技能，以後有空再用」，而是六小時內把骨架搭起來。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今天你會帶走什麼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26464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下午四點，你手上會有這四樣東西。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929384"/>
          <a:ext cx="1088136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480560"/>
                <a:gridCol w="4023360"/>
              </a:tblGrid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產出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是什麼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之後怎麼用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 i="0">
                          <a:solidFill>
                            <a:srgbClr val="E86C00"/>
                          </a:solidFill>
                          <a:latin typeface="Arial"/>
                          <a:ea typeface="PingFang TC"/>
                          <a:cs typeface="PingFang TC"/>
                        </a:rPr>
                        <a:t>一張主題地圖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你自己題目的四象限圖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直接貼進論文結果章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 i="0">
                          <a:solidFill>
                            <a:srgbClr val="E86C00"/>
                          </a:solidFill>
                          <a:latin typeface="Arial"/>
                          <a:ea typeface="PingFang TC"/>
                          <a:cs typeface="PingFang TC"/>
                        </a:rPr>
                        <a:t>一份期刊清單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候選 3 名，含「還收不收」判斷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決定投稿順序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 i="0">
                          <a:solidFill>
                            <a:srgbClr val="E86C00"/>
                          </a:solidFill>
                          <a:latin typeface="Arial"/>
                          <a:ea typeface="PingFang TC"/>
                          <a:cs typeface="PingFang TC"/>
                        </a:rPr>
                        <a:t>一份必引名單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10 位核心作者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寫文獻探討時的骨架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 i="0">
                          <a:solidFill>
                            <a:srgbClr val="E86C00"/>
                          </a:solidFill>
                          <a:latin typeface="Arial"/>
                          <a:ea typeface="PingFang TC"/>
                          <a:cs typeface="PingFang TC"/>
                        </a:rPr>
                        <a:t>一段詮釋文字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150 字，可直接用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論文寫作的句型範本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58368" y="5440680"/>
            <a:ext cx="10881360" cy="7772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5955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這四樣加起來，大約是一篇論文的前 20%。今天就做完。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開始之前：環境檢查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26464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請在 RStudio 的 Console 執行這三行，一行一行跑。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29384"/>
            <a:ext cx="10881360" cy="14630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21408"/>
            <a:ext cx="10424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900" b="0" i="0">
                <a:solidFill>
                  <a:srgbClr val="7FDBB6"/>
                </a:solidFill>
                <a:latin typeface="Arial"/>
                <a:ea typeface="PingFang TC"/>
                <a:cs typeface="PingFang TC"/>
              </a:rPr>
              <a:t>install.packages("bibliometrix")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900" b="0" i="0">
                <a:solidFill>
                  <a:srgbClr val="7FDBB6"/>
                </a:solidFill>
                <a:latin typeface="Arial"/>
                <a:ea typeface="PingFang TC"/>
                <a:cs typeface="PingFang TC"/>
              </a:rPr>
              <a:t>library(bibliometrix)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 i="0">
                <a:solidFill>
                  <a:srgbClr val="FFC47A"/>
                </a:solidFill>
                <a:latin typeface="Arial"/>
                <a:ea typeface="PingFang TC"/>
                <a:cs typeface="PingFang TC"/>
              </a:rPr>
              <a:t>biblioshiny()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575304"/>
            <a:ext cx="530352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575304"/>
            <a:ext cx="5303520" cy="47548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3666744"/>
            <a:ext cx="490118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成功的樣子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233672"/>
            <a:ext cx="4828031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跳出一個藍色的網頁介面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標題寫 bibliometrix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27AE60"/>
                </a:solidFill>
                <a:latin typeface="Arial"/>
                <a:ea typeface="PingFang TC"/>
                <a:cs typeface="PingFang TC"/>
              </a:rPr>
              <a:t>看到這個畫面就可以了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8" y="3575304"/>
            <a:ext cx="530352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8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3575304"/>
            <a:ext cx="5303520" cy="47548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3666744"/>
            <a:ext cx="490118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注意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4233672"/>
            <a:ext cx="4828031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套件名結尾是 x，不是 cs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第一行會跑 3-10 分鐘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C0392B"/>
                </a:solidFill>
                <a:latin typeface="Arial"/>
                <a:ea typeface="PingFang TC"/>
                <a:cs typeface="PingFang TC"/>
              </a:rPr>
              <a:t>紅字是安裝訊息，不是錯誤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874519"/>
            <a:ext cx="82296" cy="2286000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MODULE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304288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選題 x 檢索式 x 反向搜尋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401568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 i="0">
                <a:solidFill>
                  <a:srgbClr val="BFD7EA"/>
                </a:solidFill>
                <a:latin typeface="Arial"/>
                <a:ea typeface="PingFang TC"/>
                <a:cs typeface="PingFang TC"/>
              </a:rPr>
              <a:t>題目選錯，後面六小時的圖全部白做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4343400"/>
            <a:ext cx="1691640" cy="420624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425696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50 分鐘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四維齊全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投得出去的四個條件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08176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556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要投 SSCI 等級，這四個維度必須同時齊全。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2258568"/>
          <a:ext cx="10881360" cy="2980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5669280"/>
                <a:gridCol w="34747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維度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要求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為什麼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1  資料源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 i="0">
                          <a:solidFill>
                            <a:srgbClr val="E86C00"/>
                          </a:solidFill>
                          <a:latin typeface="Arial"/>
                          <a:ea typeface="PingFang TC"/>
                          <a:cs typeface="PingFang TC"/>
                        </a:rPr>
                        <a:t>Web of Science Core Collection 的 SSCI（教育類加 AHCI）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審稿人熟悉、可比性高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2  時段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 i="0">
                          <a:solidFill>
                            <a:srgbClr val="E86C00"/>
                          </a:solidFill>
                          <a:latin typeface="Arial"/>
                          <a:ea typeface="PingFang TC"/>
                          <a:cs typeface="PingFang TC"/>
                        </a:rPr>
                        <a:t>寬到極限：資料收錄起點到最新檢索日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任意切點會被質疑正當性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3  工具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 i="0">
                          <a:solidFill>
                            <a:srgbClr val="E86C00"/>
                          </a:solidFill>
                          <a:latin typeface="Arial"/>
                          <a:ea typeface="PingFang TC"/>
                          <a:cs typeface="PingFang TC"/>
                        </a:rPr>
                        <a:t>bibliometrix（可用 BiblioShiny 介面）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有方法學文獻可引用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4  範疇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 i="0">
                          <a:solidFill>
                            <a:srgbClr val="E86C00"/>
                          </a:solidFill>
                          <a:latin typeface="Arial"/>
                          <a:ea typeface="PingFang TC"/>
                          <a:cs typeface="PingFang TC"/>
                        </a:rPr>
                        <a:t>全領域，不是某個小切片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小切片的貢獻度不足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486400"/>
            <a:ext cx="10881360" cy="74980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61441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少任何一維，就會被打回。這張表今天會一直留在白板上。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四個維度的常見錯誤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426464"/>
          <a:ext cx="10881360" cy="3255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206240"/>
                <a:gridCol w="53035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維度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C0392B"/>
                          </a:solidFill>
                          <a:latin typeface="Arial"/>
                          <a:ea typeface="PingFang TC"/>
                          <a:cs typeface="PingFang TC"/>
                        </a:rPr>
                        <a:t>常見錯誤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27AE60"/>
                          </a:solidFill>
                          <a:latin typeface="Arial"/>
                          <a:ea typeface="PingFang TC"/>
                          <a:cs typeface="PingFang TC"/>
                        </a:rPr>
                        <a:t>正確做法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資料源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用 Scopus 或 Dimensions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用 WoS Core Collection 的 SSCI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時段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隨手切「2010-2025」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查該領域在 WoS 的收錄起點，從那裡開始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工具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只用 VOSviewer 畫幾張圖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bibliometrix 跑完整五階段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範疇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拿子題當全領域寫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全領域；若真要做切片，明寫理由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交代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參數設定沒寫進方法章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每一個篩選條件都寫明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58368" y="5486400"/>
            <a:ext cx="10881360" cy="731520"/>
          </a:xfrm>
          <a:prstGeom prst="rect">
            <a:avLst/>
          </a:prstGeom>
          <a:solidFill>
            <a:srgbClr val="F2F4F6"/>
          </a:solidFill>
          <a:ln w="1524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61441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最後一列最常被忽略：篩選參數少寫一個，審稿人一定會問。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藍海在哪裡：四條策略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26464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單做「某個領域的文獻計量」已經越來越普遍，審稿人的胃口被養大了。有效的差異化是：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75104"/>
            <a:ext cx="5303520" cy="1572768"/>
          </a:xfrm>
          <a:prstGeom prst="rect">
            <a:avLst/>
          </a:prstGeom>
          <a:solidFill>
            <a:srgbClr val="FFFFFF"/>
          </a:solidFill>
          <a:ln w="1905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975104"/>
            <a:ext cx="5303520" cy="47548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066544"/>
            <a:ext cx="490118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策略一：跨國比較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633472"/>
            <a:ext cx="4828031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例如「台灣 vs 國際」的主題對照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特別適合投國科會的英文期刊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1975104"/>
            <a:ext cx="5303520" cy="1572768"/>
          </a:xfrm>
          <a:prstGeom prst="rect">
            <a:avLst/>
          </a:prstGeom>
          <a:solidFill>
            <a:srgbClr val="FFFFFF"/>
          </a:solidFill>
          <a:ln w="1905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975104"/>
            <a:ext cx="5303520" cy="47548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2066544"/>
            <a:ext cx="490118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策略二：時期切片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633472"/>
            <a:ext cx="4828031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用主題演化看三十年怎麼變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解析度比單一時段的地圖高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712464"/>
            <a:ext cx="5303520" cy="1572768"/>
          </a:xfrm>
          <a:prstGeom prst="rect">
            <a:avLst/>
          </a:prstGeom>
          <a:solidFill>
            <a:srgbClr val="FFFFFF"/>
          </a:solidFill>
          <a:ln w="19050">
            <a:solidFill>
              <a:srgbClr val="E8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3712464"/>
            <a:ext cx="5303520" cy="47548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3803904"/>
            <a:ext cx="490118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策略三：綁自己的學位論文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370832"/>
            <a:ext cx="4828031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最推薦。一魚二吃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一篇投出去，同時把文獻探討寫了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6208" y="3712464"/>
            <a:ext cx="5303520" cy="1572768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3712464"/>
            <a:ext cx="5303520" cy="47548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7376" y="3803904"/>
            <a:ext cx="490118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策略四：從課綱十九項議題挖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4370832"/>
            <a:ext cx="4828031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家庭教育、海洋教育、生態教育…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每一個議題都還能寫一篇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本段最重要的一頁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假藍海陷阱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08176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556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不同地區的研究團隊，會用不同的詞講同一件事。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322576"/>
            <a:ext cx="5303520" cy="324612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322576"/>
            <a:ext cx="5303520" cy="5120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432304"/>
            <a:ext cx="53035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錯的做法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35808"/>
            <a:ext cx="48463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1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只搜自己想到的那一個詞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搜不到競品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以為是藍海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花半年寫完投出去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1" i="0">
                <a:solidFill>
                  <a:srgbClr val="C0392B"/>
                </a:solidFill>
                <a:latin typeface="Arial"/>
                <a:ea typeface="PingFang TC"/>
                <a:cs typeface="PingFang TC"/>
              </a:rPr>
              <a:t>審稿人回信附上三年前的同題論文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2322576"/>
            <a:ext cx="5303520" cy="324612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6208" y="2322576"/>
            <a:ext cx="5303520" cy="5120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2432304"/>
            <a:ext cx="53035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對的做法：反向搜尋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035808"/>
            <a:ext cx="48463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1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至少跑五個區域變體 query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先問：別的地區怎麼說這件事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五個詞分別搜一次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才有資格說「沒人做過」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1" i="0">
                <a:solidFill>
                  <a:srgbClr val="27AE60"/>
                </a:solidFill>
                <a:latin typeface="Arial"/>
                <a:ea typeface="PingFang TC"/>
                <a:cs typeface="PingFang TC"/>
              </a:rPr>
              <a:t>結論：真藍海 / 半藍海 / 撞題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同一件事，四種說法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26464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以幼兒教育為例，光是「幼教」這個概念就有四種以上的學術用語。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929384"/>
          <a:ext cx="10881360" cy="2907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931920"/>
                <a:gridCol w="39319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誰在用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慣用詞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如果你只搜另一個詞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歐美學界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 i="0">
                          <a:solidFill>
                            <a:srgbClr val="E86C00"/>
                          </a:solidFill>
                          <a:latin typeface="Arial"/>
                          <a:ea typeface="PingFang TC"/>
                          <a:cs typeface="PingFang TC"/>
                        </a:rPr>
                        <a:t>early childhood education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搜得到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英國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 i="0">
                          <a:solidFill>
                            <a:srgbClr val="E86C00"/>
                          </a:solidFill>
                          <a:latin typeface="Arial"/>
                          <a:ea typeface="PingFang TC"/>
                          <a:cs typeface="PingFang TC"/>
                        </a:rPr>
                        <a:t>early years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 i="0">
                          <a:solidFill>
                            <a:srgbClr val="C0392B"/>
                          </a:solidFill>
                          <a:latin typeface="Arial"/>
                          <a:ea typeface="PingFang TC"/>
                          <a:cs typeface="PingFang TC"/>
                        </a:rPr>
                        <a:t>漏掉整個英國學派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東亞、南美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 i="0">
                          <a:solidFill>
                            <a:srgbClr val="E86C00"/>
                          </a:solidFill>
                          <a:latin typeface="Arial"/>
                          <a:ea typeface="PingFang TC"/>
                          <a:cs typeface="PingFang TC"/>
                        </a:rPr>
                        <a:t>preschool / kindergarten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 i="0">
                          <a:solidFill>
                            <a:srgbClr val="C0392B"/>
                          </a:solidFill>
                          <a:latin typeface="Arial"/>
                          <a:ea typeface="PingFang TC"/>
                          <a:cs typeface="PingFang TC"/>
                        </a:rPr>
                        <a:t>漏掉亞洲與拉美團隊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OECD、UNESCO 政策文件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 i="0">
                          <a:solidFill>
                            <a:srgbClr val="E86C00"/>
                          </a:solidFill>
                          <a:latin typeface="Arial"/>
                          <a:ea typeface="PingFang TC"/>
                          <a:cs typeface="PingFang TC"/>
                        </a:rPr>
                        <a:t>pre-primary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 i="0">
                          <a:solidFill>
                            <a:srgbClr val="C0392B"/>
                          </a:solidFill>
                          <a:latin typeface="Arial"/>
                          <a:ea typeface="PingFang TC"/>
                          <a:cs typeface="PingFang TC"/>
                        </a:rPr>
                        <a:t>漏掉所有政策研究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58368" y="5486400"/>
            <a:ext cx="10881360" cy="74980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61441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只搜第一個詞，你會覺得這題「沒什麼人做」。事實上有四個學派在做。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今天的示範案例：原住民教育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26464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同一個概念，在 Web of Science 上至少有八種寫法。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75104"/>
            <a:ext cx="5303520" cy="621792"/>
          </a:xfrm>
          <a:prstGeom prst="rect">
            <a:avLst/>
          </a:prstGeom>
          <a:solidFill>
            <a:srgbClr val="F2F4F6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0391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Indigenous education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304288"/>
            <a:ext cx="4937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通用、國際組織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7" y="1975104"/>
            <a:ext cx="5303520" cy="621792"/>
          </a:xfrm>
          <a:prstGeom prst="rect">
            <a:avLst/>
          </a:prstGeom>
          <a:solidFill>
            <a:srgbClr val="F2F4F6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20391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Aboriginal education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304288"/>
            <a:ext cx="4937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澳洲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724912"/>
            <a:ext cx="5303520" cy="621792"/>
          </a:xfrm>
          <a:prstGeom prst="rect">
            <a:avLst/>
          </a:prstGeom>
          <a:solidFill>
            <a:srgbClr val="F2F4F6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27889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First Nations education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054096"/>
            <a:ext cx="4937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加拿大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6207" y="2724912"/>
            <a:ext cx="5303520" cy="621792"/>
          </a:xfrm>
          <a:prstGeom prst="rect">
            <a:avLst/>
          </a:prstGeom>
          <a:solidFill>
            <a:srgbClr val="F2F4F6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27889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Native American education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054096"/>
            <a:ext cx="4937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美國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474720"/>
            <a:ext cx="5303520" cy="621792"/>
          </a:xfrm>
          <a:prstGeom prst="rect">
            <a:avLst/>
          </a:prstGeom>
          <a:solidFill>
            <a:srgbClr val="F2F4F6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538727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American Indian education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3803904"/>
            <a:ext cx="4937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美國（較早期）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7" y="3474720"/>
            <a:ext cx="5303520" cy="621792"/>
          </a:xfrm>
          <a:prstGeom prst="rect">
            <a:avLst/>
          </a:prstGeom>
          <a:solidFill>
            <a:srgbClr val="F2F4F6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538727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Maori education / Kaupapa Maori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3803904"/>
            <a:ext cx="4937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紐西蘭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224528"/>
            <a:ext cx="5303520" cy="621792"/>
          </a:xfrm>
          <a:prstGeom prst="rect">
            <a:avLst/>
          </a:prstGeom>
          <a:solidFill>
            <a:srgbClr val="F2F4F6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7" y="428853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Sami education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" y="4553712"/>
            <a:ext cx="4937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北歐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36207" y="4224528"/>
            <a:ext cx="5303520" cy="621792"/>
          </a:xfrm>
          <a:prstGeom prst="rect">
            <a:avLst/>
          </a:prstGeom>
          <a:solidFill>
            <a:srgbClr val="F2F4F6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428853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Tribal / Adivasi education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4553712"/>
            <a:ext cx="4937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印度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5742432"/>
            <a:ext cx="10881360" cy="5486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82472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把這八個詞用 OR 串起來，才是這個領域的完整檢索式。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三版檢索式怎麼生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26464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不用自己想。開 Gemini 或 ChatGPT，請它一次給你三個版本。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29384"/>
            <a:ext cx="10881360" cy="11430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84832"/>
            <a:ext cx="10332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 i="0">
                <a:solidFill>
                  <a:srgbClr val="A9C9DD"/>
                </a:solidFill>
                <a:latin typeface="Arial"/>
                <a:ea typeface="PingFang TC"/>
                <a:cs typeface="PingFang TC"/>
              </a:rPr>
              <a:t>提示語範本：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500" b="0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「我要做『○○○』的文獻計量分析，請幫我寫 Web of Science 的 TS= 檢索式，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  給我寬鬆、普通、精簡三個版本，並列出其他地區可能用的同義詞。」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58368" y="3255264"/>
          <a:ext cx="10881360" cy="2121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4389120"/>
                <a:gridCol w="4754880"/>
              </a:tblGrid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版本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特徵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什麼時候用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寬鬆版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同義詞全開，筆數最多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探索期；先看這題有多大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 i="0">
                          <a:solidFill>
                            <a:srgbClr val="E86C00"/>
                          </a:solidFill>
                          <a:latin typeface="Arial"/>
                          <a:ea typeface="PingFang TC"/>
                          <a:cs typeface="PingFang TC"/>
                        </a:rPr>
                        <a:t>普通版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 i="0">
                          <a:solidFill>
                            <a:srgbClr val="E86C00"/>
                          </a:solidFill>
                          <a:latin typeface="Arial"/>
                          <a:ea typeface="PingFang TC"/>
                          <a:cs typeface="PingFang TC"/>
                        </a:rPr>
                        <a:t>核心詞加主要變體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 i="0">
                          <a:solidFill>
                            <a:srgbClr val="E86C00"/>
                          </a:solidFill>
                          <a:latin typeface="Arial"/>
                          <a:ea typeface="PingFang TC"/>
                          <a:cs typeface="PingFang TC"/>
                        </a:rPr>
                        <a:t>最後採用的通常是這一版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精簡版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只留最核心的詞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筆數爆掉時用來縮範圍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20 分鐘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實作 A：定題目與檢索式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08176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19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47088"/>
            <a:ext cx="3401568" cy="2971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D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847088"/>
            <a:ext cx="3401568" cy="475488"/>
          </a:xfrm>
          <a:prstGeom prst="rect">
            <a:avLst/>
          </a:prstGeom>
          <a:solidFill>
            <a:srgbClr val="5D6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938528"/>
            <a:ext cx="34015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情境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523744"/>
            <a:ext cx="29260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4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你想做一個題目，但不確定有沒有人做過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4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也不確定該用哪些關鍵字去搜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4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工作單表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8224" y="3172968"/>
            <a:ext cx="2834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79976" y="1847088"/>
            <a:ext cx="3401568" cy="2971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9976" y="1847088"/>
            <a:ext cx="3401568" cy="47548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9976" y="1938528"/>
            <a:ext cx="34015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步驟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523744"/>
            <a:ext cx="29260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4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定一個題目方向（建議綁學位論文）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4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請 AI 生三版 query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4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想出五個區域變體詞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4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五個詞分別搜一次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4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填表 A，下三選一結論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9831" y="3172968"/>
            <a:ext cx="2834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1584" y="1847088"/>
            <a:ext cx="3401568" cy="2971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1584" y="1847088"/>
            <a:ext cx="3401568" cy="47548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01584" y="1938528"/>
            <a:ext cx="34015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收穫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2523744"/>
            <a:ext cx="29260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4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一份可以直接拿去 WoS 用的檢索式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4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「真藍海 / 半藍海 / 撞題」的明確判斷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4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避免掉半年後才發現撞題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5577840"/>
            <a:ext cx="10881360" cy="65836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68756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講師會巡場。我主要抓一種人：只想到一個詞，就說「沒人做過」。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874519"/>
            <a:ext cx="82296" cy="2286000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MODULE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304288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從 WoS 下載到 BiblioShiny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401568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 i="0">
                <a:solidFill>
                  <a:srgbClr val="BFD7EA"/>
                </a:solidFill>
                <a:latin typeface="Arial"/>
                <a:ea typeface="PingFang TC"/>
                <a:cs typeface="PingFang TC"/>
              </a:rPr>
              <a:t>參數設錯，整批資料要重下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4343400"/>
            <a:ext cx="1691640" cy="420624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425696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50 分鐘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第一個翻車點：VPN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426464"/>
            <a:ext cx="10881360" cy="9144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2763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沒掛學校 VPN 就去抓資料，等於白跑一趟。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569464"/>
            <a:ext cx="5303520" cy="2514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569464"/>
            <a:ext cx="5303520" cy="47548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660904"/>
            <a:ext cx="490118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沒有 VPN 會怎樣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227832"/>
            <a:ext cx="4828031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可以搜尋、可以看摘要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C0392B"/>
                </a:solidFill>
                <a:latin typeface="Arial"/>
                <a:ea typeface="PingFang TC"/>
                <a:cs typeface="PingFang TC"/>
              </a:rPr>
              <a:t>但不讓你匯出資料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而文獻計量分析需要的正是匯出檔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等於什麼都做不了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2569464"/>
            <a:ext cx="5303520" cy="2514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6208" y="2569464"/>
            <a:ext cx="5303520" cy="47548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2660904"/>
            <a:ext cx="490118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怎麼確認連上了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3227832"/>
            <a:ext cx="4828031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連學校 VPN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開 webofscience.com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27AE60"/>
                </a:solidFill>
                <a:latin typeface="Arial"/>
                <a:ea typeface="PingFang TC"/>
                <a:cs typeface="PingFang TC"/>
              </a:rPr>
              <a:t>確認畫面上出現學校名稱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有校名 = IP 認證成功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五個必設參數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26464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進階搜尋 → 使用「查詢建構器 QUERY BUILDER」組檢索式，再設以下四項。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929384"/>
          <a:ext cx="10881360" cy="305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4754880"/>
                <a:gridCol w="4389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參數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設定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說明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年份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 i="0">
                          <a:solidFill>
                            <a:srgbClr val="E86C00"/>
                          </a:solidFill>
                          <a:latin typeface="Arial"/>
                          <a:ea typeface="PingFang TC"/>
                          <a:cs typeface="PingFang TC"/>
                        </a:rPr>
                        <a:t>1996 - 2026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1996 是社科領域的收錄起點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語言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 i="0">
                          <a:solidFill>
                            <a:srgbClr val="E86C00"/>
                          </a:solidFill>
                          <a:latin typeface="Arial"/>
                          <a:ea typeface="PingFang TC"/>
                          <a:cs typeface="PingFang TC"/>
                        </a:rPr>
                        <a:t>不限語言，或限英語皆可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依你的研究範圍決定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文獻類型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 i="0">
                          <a:solidFill>
                            <a:srgbClr val="E86C00"/>
                          </a:solidFill>
                          <a:latin typeface="Arial"/>
                          <a:ea typeface="PingFang TC"/>
                          <a:cs typeface="PingFang TC"/>
                        </a:rPr>
                        <a:t>Article 與 Article Review 兩類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剔除書評、紀念文、會議摘要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資料庫類別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 i="0">
                          <a:solidFill>
                            <a:srgbClr val="E86C00"/>
                          </a:solidFill>
                          <a:latin typeface="Arial"/>
                          <a:ea typeface="PingFang TC"/>
                          <a:cs typeface="PingFang TC"/>
                        </a:rPr>
                        <a:t>可選 SCIE、SSCI、A&amp;HCI、ESCI 等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依主題需要勾選，選了就要寫進方法章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58368" y="5532120"/>
            <a:ext cx="10881360" cy="7132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64184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這五個參數每一個都要寫進論文的方法章。少寫一個，審稿人一定問。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依你的主題需要勾選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四個資料庫分別是什麼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08176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556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WoS 核心合輯分成幾個索引。勾哪幾個沒有標準答案，取決於你的主題分布在哪裡。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2258568"/>
          <a:ext cx="10881360" cy="2907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743200"/>
                <a:gridCol w="3291840"/>
                <a:gridCol w="3657600"/>
              </a:tblGrid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索引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全名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收錄範圍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教育研究常見用法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E86C00"/>
                          </a:solidFill>
                          <a:latin typeface="Arial"/>
                          <a:ea typeface="PingFang TC"/>
                          <a:cs typeface="PingFang TC"/>
                        </a:rPr>
                        <a:t>SSCI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社會科學引文索引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社會科學期刊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E86C00"/>
                          </a:solidFill>
                          <a:latin typeface="Arial"/>
                          <a:ea typeface="PingFang TC"/>
                          <a:cs typeface="PingFang TC"/>
                        </a:rPr>
                        <a:t>教育研究的主要範圍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E86C00"/>
                          </a:solidFill>
                          <a:latin typeface="Arial"/>
                          <a:ea typeface="PingFang TC"/>
                          <a:cs typeface="PingFang TC"/>
                        </a:rPr>
                        <a:t>A&amp;HCI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藝術人文引文索引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語言、文化、哲學、歷史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E86C00"/>
                          </a:solidFill>
                          <a:latin typeface="Arial"/>
                          <a:ea typeface="PingFang TC"/>
                          <a:cs typeface="PingFang TC"/>
                        </a:rPr>
                        <a:t>語言與文化類主題常用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SCIE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科學引文索引（擴充版）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自然科學與工程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科學教育、STEM 類主題會用到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ESCI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新興資源引文索引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新興與區域性期刊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想涵蓋較新或非主流期刊時加選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486400"/>
            <a:ext cx="10881360" cy="768096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596128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重點不是勾幾個，而是：勾了哪幾個，就要原原本本寫進方法章。審稿人要的是可複現。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筆數太多怎麼辦：上限是 500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26464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勾了 Cited References 之後，單次匯出上限是 500 筆，不是 1000。超過就要分批。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75104"/>
            <a:ext cx="2569464" cy="1188720"/>
          </a:xfrm>
          <a:prstGeom prst="rect">
            <a:avLst/>
          </a:prstGeom>
          <a:solidFill>
            <a:srgbClr val="F2F4F6"/>
          </a:solidFill>
          <a:ln w="1524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139696"/>
            <a:ext cx="25694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670048"/>
            <a:ext cx="235000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含引文時的上限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1975104"/>
            <a:ext cx="2569464" cy="1188720"/>
          </a:xfrm>
          <a:prstGeom prst="rect">
            <a:avLst/>
          </a:prstGeom>
          <a:solidFill>
            <a:srgbClr val="F2F4F6"/>
          </a:solidFill>
          <a:ln w="1524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2139696"/>
            <a:ext cx="25694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分批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2670048"/>
            <a:ext cx="235000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超過就分次下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1975104"/>
            <a:ext cx="2569464" cy="1188720"/>
          </a:xfrm>
          <a:prstGeom prst="rect">
            <a:avLst/>
          </a:prstGeom>
          <a:solidFill>
            <a:srgbClr val="F2F4F6"/>
          </a:solidFill>
          <a:ln w="1524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2" y="2139696"/>
            <a:ext cx="25694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紙筆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670048"/>
            <a:ext cx="235000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記下載到第幾筆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70264" y="1975104"/>
            <a:ext cx="2569464" cy="1188720"/>
          </a:xfrm>
          <a:prstGeom prst="rect">
            <a:avLst/>
          </a:prstGeom>
          <a:solidFill>
            <a:srgbClr val="F2F4F6"/>
          </a:solidFill>
          <a:ln w="1524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70264" y="2139696"/>
            <a:ext cx="25694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合併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9992" y="2670048"/>
            <a:ext cx="235000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匯入前合成一個檔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438144"/>
            <a:ext cx="530352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3438144"/>
            <a:ext cx="5303520" cy="47548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3529584"/>
            <a:ext cx="490118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命名建議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4096512"/>
            <a:ext cx="4828031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主題_WoS_part01_0001-0500.txt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/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主題_WoS_part02_0501-1000.txt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/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編號和筆數範圍都寫進檔名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6208" y="3438144"/>
            <a:ext cx="530352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36208" y="3438144"/>
            <a:ext cx="5303520" cy="47548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7376" y="3529584"/>
            <a:ext cx="490118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最常見的錯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4096512"/>
            <a:ext cx="4828031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C0392B"/>
                </a:solidFill>
                <a:latin typeface="Arial"/>
                <a:ea typeface="PingFang TC"/>
                <a:cs typeface="PingFang TC"/>
              </a:rPr>
              <a:t>忘記自己下到第幾筆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結果中間漏掉一段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分析跑完才發現筆數不對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只能整批重下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匯出格式：兩個選項不能錯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25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426464"/>
            <a:ext cx="530352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426464"/>
            <a:ext cx="5303520" cy="5120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36192"/>
            <a:ext cx="53035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57984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700" b="1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匯出成 Excel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bibliometrix 讀不進去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欄位會被截斷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只選 Full Record 不含引文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1" i="0">
                <a:solidFill>
                  <a:srgbClr val="C0392B"/>
                </a:solidFill>
                <a:latin typeface="Arial"/>
                <a:ea typeface="PingFang TC"/>
                <a:cs typeface="PingFang TC"/>
              </a:rPr>
              <a:t>之後想做共被引分析要整批重下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1426464"/>
            <a:ext cx="530352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8" y="1426464"/>
            <a:ext cx="5303520" cy="5120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8" y="1536192"/>
            <a:ext cx="53035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57984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700" b="1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Plain Text File（.txt）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內容選 Full Record and Cited References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引文資料後面分析會用到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All Records 的欄位全部勾選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1" i="0">
                <a:solidFill>
                  <a:srgbClr val="27AE60"/>
                </a:solidFill>
                <a:latin typeface="Arial"/>
                <a:ea typeface="PingFang TC"/>
                <a:cs typeface="PingFang TC"/>
              </a:rPr>
              <a:t>一次下對，不用重來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實機畫面｜跟舊教材不一樣，先認路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5.x 的選單長這樣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08176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26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55648"/>
            <a:ext cx="7534655" cy="4390461"/>
          </a:xfrm>
          <a:prstGeom prst="rect">
            <a:avLst/>
          </a:prstGeom>
          <a:noFill/>
          <a:ln w="1524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_im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73936"/>
            <a:ext cx="7498079" cy="435388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339327" y="1773936"/>
            <a:ext cx="3200400" cy="4353885"/>
          </a:xfrm>
          <a:prstGeom prst="rect">
            <a:avLst/>
          </a:prstGeom>
          <a:solidFill>
            <a:srgbClr val="FFFFFF"/>
          </a:solidFill>
          <a:ln w="19050">
            <a:solidFill>
              <a:srgbClr val="E8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39327" y="1773936"/>
            <a:ext cx="3200400" cy="47548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0496" y="1865376"/>
            <a:ext cx="27980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選單搬家了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7072" y="2432304"/>
            <a:ext cx="2724912" cy="3530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1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五大分類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3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SEARCH / APPRAISAL /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3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ANALYSIS / SYNTHESIS /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3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CONTENT ANALYSIS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1" i="0">
                <a:solidFill>
                  <a:srgbClr val="27AE60"/>
                </a:solidFill>
                <a:latin typeface="Arial"/>
                <a:ea typeface="PingFang TC"/>
                <a:cs typeface="PingFang TC"/>
              </a:rPr>
              <a:t>舊名稱都還在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3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Overview、Sources、Authors、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3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Documents 收在 ANALYSIS 底下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主題地圖在哪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3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SYNTHESIS → Conceptual Structure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匯入 BiblioShiny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26464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五個步驟，資料就進去了。（以下為 5.x 實機路徑）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29384"/>
            <a:ext cx="658368" cy="56692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29968"/>
            <a:ext cx="658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89888" y="1929384"/>
            <a:ext cx="10149840" cy="566928"/>
          </a:xfrm>
          <a:prstGeom prst="rect">
            <a:avLst/>
          </a:prstGeom>
          <a:solidFill>
            <a:srgbClr val="F2F4F6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27632" y="2066544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左側選單  Data  &gt;  Import or Load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606040"/>
            <a:ext cx="658368" cy="56692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706624"/>
            <a:ext cx="658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89888" y="2606040"/>
            <a:ext cx="10149840" cy="566928"/>
          </a:xfrm>
          <a:prstGeom prst="rect">
            <a:avLst/>
          </a:prstGeom>
          <a:solidFill>
            <a:srgbClr val="F2F4F6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27632" y="2743200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Please, choose what to do  &gt;  Import raw file(s)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282696"/>
            <a:ext cx="658368" cy="56692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383280"/>
            <a:ext cx="658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89888" y="3282696"/>
            <a:ext cx="10149840" cy="566928"/>
          </a:xfrm>
          <a:prstGeom prst="rect">
            <a:avLst/>
          </a:prstGeom>
          <a:solidFill>
            <a:srgbClr val="F2F4F6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3419856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Database  &gt;  Web of Science (WoS/WoK)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959352"/>
            <a:ext cx="658368" cy="56692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059936"/>
            <a:ext cx="658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89888" y="3959352"/>
            <a:ext cx="10149840" cy="566928"/>
          </a:xfrm>
          <a:prstGeom prst="rect">
            <a:avLst/>
          </a:prstGeom>
          <a:solidFill>
            <a:srgbClr val="F2F4F6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27632" y="4096512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Browse 上傳你的 .txt 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4636008"/>
            <a:ext cx="658368" cy="56692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736592"/>
            <a:ext cx="658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89888" y="4636008"/>
            <a:ext cx="10149840" cy="566928"/>
          </a:xfrm>
          <a:prstGeom prst="rect">
            <a:avLst/>
          </a:prstGeom>
          <a:solidFill>
            <a:srgbClr val="F2F4F6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477316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按  Start，等它跑完轉換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669280"/>
            <a:ext cx="10881360" cy="621792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779008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多個檔案要合併：請 AI 寫一段 R 指令把幾個 .txt 合成一個再匯入。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實機畫面｜四個設定由上而下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實際畫面：匯入設定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08176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28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55648"/>
            <a:ext cx="7534655" cy="4390461"/>
          </a:xfrm>
          <a:prstGeom prst="rect">
            <a:avLst/>
          </a:prstGeom>
          <a:noFill/>
          <a:ln w="1524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2_import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73936"/>
            <a:ext cx="7498079" cy="435388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339327" y="1773936"/>
            <a:ext cx="3200400" cy="4353885"/>
          </a:xfrm>
          <a:prstGeom prst="rect">
            <a:avLst/>
          </a:prstGeom>
          <a:solidFill>
            <a:srgbClr val="FFFFFF"/>
          </a:solidFill>
          <a:ln w="19050">
            <a:solidFill>
              <a:srgbClr val="E8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39327" y="1773936"/>
            <a:ext cx="3200400" cy="47548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0496" y="1865376"/>
            <a:ext cx="27980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照這四格設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7072" y="2432304"/>
            <a:ext cx="2724912" cy="3530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3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1  Import raw file(s)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3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2  Web of Science (WoS/WoK)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3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3  Surname and Initials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3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4  Browse 選你的 .txt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設好按藍色 Start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右下角會顯示筆數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今天用的示範資料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26464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為了不讓二十個人同時連 WoS（會塞車、會失敗、會吃掉一小時），上午用預先備好的資料集。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929384"/>
          <a:ext cx="10881360" cy="2761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4572000"/>
                <a:gridCol w="5120640"/>
              </a:tblGrid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/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示範資料集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說明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主題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 i="0">
                          <a:solidFill>
                            <a:srgbClr val="E86C00"/>
                          </a:solidFill>
                          <a:latin typeface="Arial"/>
                          <a:ea typeface="PingFang TC"/>
                          <a:cs typeface="PingFang TC"/>
                        </a:rPr>
                        <a:t>原住民教育（1999-2026）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教授課堂用過的案例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筆數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 i="0">
                          <a:solidFill>
                            <a:srgbClr val="E86C00"/>
                          </a:solidFill>
                          <a:latin typeface="Arial"/>
                          <a:ea typeface="PingFang TC"/>
                          <a:cs typeface="PingFang TC"/>
                        </a:rPr>
                        <a:t>500 筆（精簡版）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匯入只要 1.7 秒，筆電跑得動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來源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WoS Core Collection，SSCI + AHCI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完整版共 2,743 筆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限制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 i="0">
                          <a:solidFill>
                            <a:srgbClr val="C0392B"/>
                          </a:solidFill>
                          <a:latin typeface="Arial"/>
                          <a:ea typeface="PingFang TC"/>
                          <a:cs typeface="PingFang TC"/>
                        </a:rPr>
                        <a:t>這份檔案不含引文資料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所以共被引分析跑不動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58368" y="5486400"/>
            <a:ext cx="10881360" cy="7680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96128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這個限制剛好是個真實教訓：當初匯出時沒勾 Cited References。你們自己下載時千萬要勾。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實機畫面｜很多人會直接關掉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匯入後先看這張表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08176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30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55648"/>
            <a:ext cx="7534655" cy="4390461"/>
          </a:xfrm>
          <a:prstGeom prst="rect">
            <a:avLst/>
          </a:prstGeom>
          <a:noFill/>
          <a:ln w="1524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5_metadata_complete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73936"/>
            <a:ext cx="7498079" cy="435388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339327" y="1773936"/>
            <a:ext cx="3200400" cy="4353885"/>
          </a:xfrm>
          <a:prstGeom prst="rect">
            <a:avLst/>
          </a:prstGeom>
          <a:solidFill>
            <a:srgbClr val="FFFFFF"/>
          </a:solidFill>
          <a:ln w="19050">
            <a:solidFill>
              <a:srgbClr val="E8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39327" y="1773936"/>
            <a:ext cx="3200400" cy="47548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0496" y="1865376"/>
            <a:ext cx="27980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缺漏率一眼看完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7072" y="2432304"/>
            <a:ext cx="2724912" cy="3530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1" i="0">
                <a:solidFill>
                  <a:srgbClr val="C0392B"/>
                </a:solidFill>
                <a:latin typeface="Arial"/>
                <a:ea typeface="PingFang TC"/>
                <a:cs typeface="PingFang TC"/>
              </a:rPr>
              <a:t>CR 引文 100% 缺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3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紅字 Completely missing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3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→ 共被引分析跑不動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1" i="0">
                <a:solidFill>
                  <a:srgbClr val="C0392B"/>
                </a:solidFill>
                <a:latin typeface="Arial"/>
                <a:ea typeface="PingFang TC"/>
                <a:cs typeface="PingFang TC"/>
              </a:rPr>
              <a:t>ID 關鍵詞缺 32.4%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3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標示 Poor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3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→ 別用它跑主題地圖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教訓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3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匯出一定要勾 Cited References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874519"/>
            <a:ext cx="82296" cy="2286000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MODULE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304288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投稿情報三連發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401568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 i="0">
                <a:solidFill>
                  <a:srgbClr val="BFD7EA"/>
                </a:solidFill>
                <a:latin typeface="Arial"/>
                <a:ea typeface="PingFang TC"/>
                <a:cs typeface="PingFang TC"/>
              </a:rPr>
              <a:t>還沒開始寫，情報就先到手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4343400"/>
            <a:ext cx="1691640" cy="420624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425696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45 分鐘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口訣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32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10881360" cy="132588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75104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期刊看兩張、作者抄十個、國家看一張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55264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這是文獻計量分析最被低估的用途。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712464"/>
            <a:ext cx="342900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12464"/>
            <a:ext cx="3429000" cy="47548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3803904"/>
            <a:ext cx="30266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期刊：兩張圖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70832"/>
            <a:ext cx="2953512" cy="9143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該投哪一本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這本還收不收這主題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3712464"/>
            <a:ext cx="342900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8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3712464"/>
            <a:ext cx="3429000" cy="47548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0288" y="3803904"/>
            <a:ext cx="30266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作者：抄十個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6864" y="4370832"/>
            <a:ext cx="2953512" cy="9143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誰是不能不引的人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誰是長青、誰是曇花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19872" y="3712464"/>
            <a:ext cx="3419856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19872" y="3712464"/>
            <a:ext cx="3419856" cy="47548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803904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國家：一張圖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6" y="4370832"/>
            <a:ext cx="2944368" cy="9143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這題的地理重心在哪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決定投哪個區域的期刊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Most Relevant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投稿去哪裡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08176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556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發表這個主題最多的期刊，就是你的投稿第一順位。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304288"/>
            <a:ext cx="530352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304288"/>
            <a:ext cx="5303520" cy="47548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395728"/>
            <a:ext cx="490118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怎麼讀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962656"/>
            <a:ext cx="4828031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橫軸是發表篇數，由多到少排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排在前面的期刊，代表主編熟悉這個主題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也代表審稿人庫裡有懂這題的人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前三名就是你的候選清單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2304288"/>
            <a:ext cx="530352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8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6208" y="2304288"/>
            <a:ext cx="5303520" cy="47548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2395728"/>
            <a:ext cx="490118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示範案例：原住民教育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962656"/>
            <a:ext cx="4828031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Australian Educational Researcher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15 篇，排名第一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合理：這題的研究重心在澳洲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27AE60"/>
                </a:solidFill>
                <a:latin typeface="Arial"/>
                <a:ea typeface="PingFang TC"/>
                <a:cs typeface="PingFang TC"/>
              </a:rPr>
              <a:t>第一順位就投它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實機畫面｜ANALYSIS →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實際畫面：期刊排行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08176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34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55648"/>
            <a:ext cx="7534655" cy="4390461"/>
          </a:xfrm>
          <a:prstGeom prst="rect">
            <a:avLst/>
          </a:prstGeom>
          <a:noFill/>
          <a:ln w="1524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7_relevant_sou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73936"/>
            <a:ext cx="7498079" cy="435388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339327" y="1773936"/>
            <a:ext cx="3200400" cy="4353885"/>
          </a:xfrm>
          <a:prstGeom prst="rect">
            <a:avLst/>
          </a:prstGeom>
          <a:solidFill>
            <a:srgbClr val="FFFFFF"/>
          </a:solidFill>
          <a:ln w="19050">
            <a:solidFill>
              <a:srgbClr val="E8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39327" y="1773936"/>
            <a:ext cx="3200400" cy="47548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0496" y="1865376"/>
            <a:ext cx="27980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怎麼看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7072" y="2432304"/>
            <a:ext cx="2724912" cy="3530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3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橫軸＝該期刊發表篇數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排前面的就是投稿首選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3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代表主編熟悉這個主題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3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也代表審稿人庫裡有懂的人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記得切 Table 分頁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3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圖和表要一起存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Sources' Production Over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這本還收不收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08176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35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10881360" cy="868680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3852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很多人會漏掉這張圖。它幫你避開「明明是頂刊，但根本不收你這題」。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852928"/>
            <a:ext cx="530352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2852928"/>
            <a:ext cx="5303520" cy="47548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944368"/>
            <a:ext cx="490118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曲線還在爬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511296"/>
            <a:ext cx="4828031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這本期刊近年持續在收這個主題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27AE60"/>
                </a:solidFill>
                <a:latin typeface="Arial"/>
                <a:ea typeface="PingFang TC"/>
                <a:cs typeface="PingFang TC"/>
              </a:rPr>
              <a:t>可以投，而且主編有興趣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8" y="2852928"/>
            <a:ext cx="530352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2852928"/>
            <a:ext cx="5303520" cy="47548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2944368"/>
            <a:ext cx="490118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曲線平掉了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3511296"/>
            <a:ext cx="4828031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某年之後就不再發表這主題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代表主編的興趣轉移了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C0392B"/>
                </a:solidFill>
                <a:latin typeface="Arial"/>
                <a:ea typeface="PingFang TC"/>
                <a:cs typeface="PingFang TC"/>
              </a:rPr>
              <a:t>不要硬碰硬，換一本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Most Relevant Authors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誰不能不引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08176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556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這份清單上的人，你的論文裡要引用。理由很實際。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304288"/>
            <a:ext cx="10881360" cy="1234440"/>
          </a:xfrm>
          <a:prstGeom prst="rect">
            <a:avLst/>
          </a:prstGeom>
          <a:solidFill>
            <a:srgbClr val="F2F4F6"/>
          </a:solidFill>
          <a:ln w="19050">
            <a:solidFill>
              <a:srgbClr val="E8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10241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「你投稿，搞不好就送到他手上審。他看到自己被引用，心情會比較好。」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8368" y="3721608"/>
          <a:ext cx="10881360" cy="2066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5039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用途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怎麼做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建立必引名單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 i="0">
                          <a:solidFill>
                            <a:srgbClr val="E86C00"/>
                          </a:solidFill>
                          <a:latin typeface="Arial"/>
                          <a:ea typeface="PingFang TC"/>
                          <a:cs typeface="PingFang TC"/>
                        </a:rPr>
                        <a:t>抄下前十名，寫文獻探討時確認每個人都引到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預判審稿人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這個領域的高產作者，就是期刊送審的人選庫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找合作對象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若有同機構或同語言的，可以寫信請教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實機畫面｜ANALYSIS → Authors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實際畫面：作者排行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08176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37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55648"/>
            <a:ext cx="7534655" cy="4390461"/>
          </a:xfrm>
          <a:prstGeom prst="rect">
            <a:avLst/>
          </a:prstGeom>
          <a:noFill/>
          <a:ln w="1524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8_relevant_auth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73936"/>
            <a:ext cx="7498079" cy="435388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339327" y="1773936"/>
            <a:ext cx="3200400" cy="4353885"/>
          </a:xfrm>
          <a:prstGeom prst="rect">
            <a:avLst/>
          </a:prstGeom>
          <a:solidFill>
            <a:srgbClr val="FFFFFF"/>
          </a:solidFill>
          <a:ln w="19050">
            <a:solidFill>
              <a:srgbClr val="E8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39327" y="1773936"/>
            <a:ext cx="3200400" cy="47548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0496" y="1865376"/>
            <a:ext cx="27980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這就是必引名單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7072" y="2432304"/>
            <a:ext cx="2724912" cy="3530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前十名抄下來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3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寫文獻探討時逐一確認引到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1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為什麼要引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3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你投稿很可能送到他手上審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3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他看到自己被引，心情會好一點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再看 Production over Time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3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分辨長青樹還是曇花一現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Authors' Production Over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長青還是曇花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08176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556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不是所有高產作者都該引。這張圖幫你分辨。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304288"/>
            <a:ext cx="530352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304288"/>
            <a:ext cx="5303520" cy="47548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395728"/>
            <a:ext cx="490118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長青樹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962656"/>
            <a:ext cx="4828031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從早期到最近都持續發表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代表他是這個領域的穩定核心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27AE60"/>
                </a:solidFill>
                <a:latin typeface="Arial"/>
                <a:ea typeface="PingFang TC"/>
                <a:cs typeface="PingFang TC"/>
              </a:rPr>
              <a:t>一定要引，而且引他近期的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也是最可能擔任審稿人的人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2304288"/>
            <a:ext cx="530352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5D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6208" y="2304288"/>
            <a:ext cx="5303520" cy="475488"/>
          </a:xfrm>
          <a:prstGeom prst="rect">
            <a:avLst/>
          </a:prstGeom>
          <a:solidFill>
            <a:srgbClr val="5D6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2395728"/>
            <a:ext cx="490118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曇花一現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962656"/>
            <a:ext cx="4828031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只在某幾年集中發表，之後就沒了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可能是做完一個計畫就轉向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可以略過，或只引代表作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不必花力氣追他全部著作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Countries' Scientific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這題誰在做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08176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556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世界地圖，顏色越深代表發表越多。這決定你的投稿區域策略。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2258568"/>
          <a:ext cx="10881360" cy="2761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297680"/>
                <a:gridCol w="4389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看什麼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示範案例（原住民教育）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推論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哪個國家最深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 i="0">
                          <a:solidFill>
                            <a:srgbClr val="E86C00"/>
                          </a:solidFill>
                          <a:latin typeface="Arial"/>
                          <a:ea typeface="PingFang TC"/>
                          <a:cs typeface="PingFang TC"/>
                        </a:rPr>
                        <a:t>澳洲，57 篇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這題的研究重心在大洋洲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前段班有誰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澳洲、加拿大、美國、紐西蘭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英語圈定居者殖民國家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亞洲呢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篇數明顯偏少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 i="0">
                          <a:solidFill>
                            <a:srgbClr val="C0392B"/>
                          </a:solidFill>
                          <a:latin typeface="Arial"/>
                          <a:ea typeface="PingFang TC"/>
                          <a:cs typeface="PingFang TC"/>
                        </a:rPr>
                        <a:t>投亞洲期刊不會比投歐美澳有利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策略結論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 i="0">
                          <a:solidFill>
                            <a:srgbClr val="E86C00"/>
                          </a:solidFill>
                          <a:latin typeface="Arial"/>
                          <a:ea typeface="PingFang TC"/>
                          <a:cs typeface="PingFang TC"/>
                        </a:rPr>
                        <a:t>投歐美澳的期刊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與地理重心一致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486400"/>
            <a:ext cx="10881360" cy="7315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60527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搭配 Country Production Over Time，還能看出是誰在接棒。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實機畫面｜Countries Scientific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實際畫面：國家分布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08176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40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55648"/>
            <a:ext cx="7534655" cy="4390461"/>
          </a:xfrm>
          <a:prstGeom prst="rect">
            <a:avLst/>
          </a:prstGeom>
          <a:noFill/>
          <a:ln w="1524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9_count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73936"/>
            <a:ext cx="7498079" cy="435388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339327" y="1773936"/>
            <a:ext cx="3200400" cy="4353885"/>
          </a:xfrm>
          <a:prstGeom prst="rect">
            <a:avLst/>
          </a:prstGeom>
          <a:solidFill>
            <a:srgbClr val="FFFFFF"/>
          </a:solidFill>
          <a:ln w="19050">
            <a:solidFill>
              <a:srgbClr val="E8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39327" y="1773936"/>
            <a:ext cx="3200400" cy="47548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0496" y="1865376"/>
            <a:ext cx="27980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決定投稿區域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7072" y="2432304"/>
            <a:ext cx="2724912" cy="3530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3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顏色越深＝發表越多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重心在哪就投哪一區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3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示範案例重心在大洋洲、北美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3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→ 投歐美澳期刊較合適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搭配 Production over Time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3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看得出是誰在接棒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兩個會被抓的細節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41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426464"/>
            <a:ext cx="530352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8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426464"/>
            <a:ext cx="5303520" cy="47548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517904"/>
            <a:ext cx="490118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一、當年度的數字一定偏低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084832"/>
            <a:ext cx="4828031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Annual Scientific Production 必跑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但最後一年的柱子會特別短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因為這一年還沒過完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這不是程式錯誤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C0392B"/>
                </a:solidFill>
                <a:latin typeface="Arial"/>
                <a:ea typeface="PingFang TC"/>
                <a:cs typeface="PingFang TC"/>
              </a:rPr>
              <a:t>論文裡要寫一句交代清楚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不寫的話，審稿人一定問「為什麼最後一年暴跌」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1426464"/>
            <a:ext cx="530352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8" y="1426464"/>
            <a:ext cx="5303520" cy="47548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1517904"/>
            <a:ext cx="490118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二、圖和表要同時下載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084832"/>
            <a:ext cx="4828031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每張圖的下方都有下載表格的選項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只存圖，之後要寫數字只能用眼睛讀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C0392B"/>
                </a:solidFill>
                <a:latin typeface="Arial"/>
                <a:ea typeface="PingFang TC"/>
                <a:cs typeface="PingFang TC"/>
              </a:rPr>
              <a:t>讀圖容易讀錯數字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有表才能寫出精確的百分比與篇數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27AE60"/>
                </a:solidFill>
                <a:latin typeface="Arial"/>
                <a:ea typeface="PingFang TC"/>
                <a:cs typeface="PingFang TC"/>
              </a:rPr>
              <a:t>養成習慣：圖存一份、表存一份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實機畫面｜最後一年一定要解釋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實際畫面：年度產出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08176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42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55648"/>
            <a:ext cx="7534655" cy="4390461"/>
          </a:xfrm>
          <a:prstGeom prst="rect">
            <a:avLst/>
          </a:prstGeom>
          <a:noFill/>
          <a:ln w="1524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6_annual_prod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73936"/>
            <a:ext cx="7498079" cy="435388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339327" y="1773936"/>
            <a:ext cx="3200400" cy="4353885"/>
          </a:xfrm>
          <a:prstGeom prst="rect">
            <a:avLst/>
          </a:prstGeom>
          <a:solidFill>
            <a:srgbClr val="FFFFFF"/>
          </a:solidFill>
          <a:ln w="19050">
            <a:solidFill>
              <a:srgbClr val="E8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39327" y="1773936"/>
            <a:ext cx="3200400" cy="47548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0496" y="1865376"/>
            <a:ext cx="27980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看右端那一段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7072" y="2432304"/>
            <a:ext cx="2724912" cy="3530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1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2025 年 78 篇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1" i="0">
                <a:solidFill>
                  <a:srgbClr val="C0392B"/>
                </a:solidFill>
                <a:latin typeface="Arial"/>
                <a:ea typeface="PingFang TC"/>
                <a:cs typeface="PingFang TC"/>
              </a:rPr>
              <a:t>2026 年掉到 32 篇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3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這不是程式錯誤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3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是今年還沒過完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論文一定要寫明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3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不然審稿人必問為什麼暴跌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上方有 Plot / Table 兩頁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874519"/>
            <a:ext cx="82296" cy="2286000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MODULE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304288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五張圖的判讀口訣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401568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 i="0">
                <a:solidFill>
                  <a:srgbClr val="BFD7EA"/>
                </a:solidFill>
                <a:latin typeface="Arial"/>
                <a:ea typeface="PingFang TC"/>
                <a:cs typeface="PingFang TC"/>
              </a:rPr>
              <a:t>會點滑鼠不難，難的是看懂圖在說什麼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4343400"/>
            <a:ext cx="1691640" cy="420624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425696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35 分鐘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五張圖，哪幾張要貼進論文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44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426464"/>
          <a:ext cx="10881360" cy="3346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4480560"/>
                <a:gridCol w="1280160"/>
                <a:gridCol w="4572000"/>
              </a:tblGrid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圖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名稱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必貼？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口訣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1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共詞網絡  Co-occurrence Network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 i="0">
                          <a:solidFill>
                            <a:srgbClr val="E86C00"/>
                          </a:solidFill>
                          <a:latin typeface="Arial"/>
                          <a:ea typeface="PingFang TC"/>
                          <a:cs typeface="PingFang TC"/>
                        </a:rPr>
                        <a:t>必貼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數群集 → 命名群 → 找橋樑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2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趨勢主題  Trend Topics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建議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右端的新詞就是切入點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3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 i="0">
                          <a:solidFill>
                            <a:srgbClr val="E86C00"/>
                          </a:solidFill>
                          <a:latin typeface="Arial"/>
                          <a:ea typeface="PingFang TC"/>
                          <a:cs typeface="PingFang TC"/>
                        </a:rPr>
                        <a:t>主題地圖  Thematic Map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 i="0">
                          <a:solidFill>
                            <a:srgbClr val="E86C00"/>
                          </a:solidFill>
                          <a:latin typeface="Arial"/>
                          <a:ea typeface="PingFang TC"/>
                          <a:cs typeface="PingFang TC"/>
                        </a:rPr>
                        <a:t>必貼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 i="0">
                          <a:solidFill>
                            <a:srgbClr val="E86C00"/>
                          </a:solidFill>
                          <a:latin typeface="Arial"/>
                          <a:ea typeface="PingFang TC"/>
                          <a:cs typeface="PingFang TC"/>
                        </a:rPr>
                        <a:t>右上別搶、右下寫政策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4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 i="0">
                          <a:solidFill>
                            <a:srgbClr val="E86C00"/>
                          </a:solidFill>
                          <a:latin typeface="Arial"/>
                          <a:ea typeface="PingFang TC"/>
                          <a:cs typeface="PingFang TC"/>
                        </a:rPr>
                        <a:t>主題演化  Thematic Evolution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 i="0">
                          <a:solidFill>
                            <a:srgbClr val="E86C00"/>
                          </a:solidFill>
                          <a:latin typeface="Arial"/>
                          <a:ea typeface="PingFang TC"/>
                          <a:cs typeface="PingFang TC"/>
                        </a:rPr>
                        <a:t>必貼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四種命運：長青起落合併新興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5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概念結構  MCA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建議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兩維加總定分散度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58368" y="5486400"/>
            <a:ext cx="10881360" cy="749808"/>
          </a:xfrm>
          <a:prstGeom prst="rect">
            <a:avLst/>
          </a:prstGeom>
          <a:solidFill>
            <a:srgbClr val="5D6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61441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另外兩張不用貼：文字雲和樹狀圖。看不出額外訊息，只是佔版面。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口訣：數群集 → 命名群 → 找橋樑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圖一：共詞網絡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08176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55648"/>
            <a:ext cx="10881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原理：兩個關鍵字出現在同一篇文章，就連一條線。出現越多次，線越粗。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322576"/>
            <a:ext cx="868680" cy="89611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560320"/>
            <a:ext cx="868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27632" y="2322576"/>
            <a:ext cx="9912096" cy="896112"/>
          </a:xfrm>
          <a:prstGeom prst="rect">
            <a:avLst/>
          </a:prstGeom>
          <a:solidFill>
            <a:srgbClr val="F2F4F6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74519" y="2468880"/>
            <a:ext cx="9418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數群集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825496"/>
            <a:ext cx="94183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有幾個顏色群？示範案例分出四群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401568"/>
            <a:ext cx="868680" cy="89611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639311"/>
            <a:ext cx="868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27632" y="3401568"/>
            <a:ext cx="9912096" cy="896112"/>
          </a:xfrm>
          <a:prstGeom prst="rect">
            <a:avLst/>
          </a:prstGeom>
          <a:solidFill>
            <a:srgbClr val="F2F4F6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74519" y="3547872"/>
            <a:ext cx="9418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命名群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904487"/>
            <a:ext cx="94183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每群抓最大的詞當群名，這就是你的次領域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480560"/>
            <a:ext cx="868680" cy="89611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718304"/>
            <a:ext cx="868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27632" y="4480560"/>
            <a:ext cx="9912096" cy="896112"/>
          </a:xfrm>
          <a:prstGeom prst="rect">
            <a:avLst/>
          </a:prstGeom>
          <a:solidFill>
            <a:srgbClr val="F2F4F6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74519" y="4626864"/>
            <a:ext cx="9418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找橋樑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4983480"/>
            <a:ext cx="94183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同時連到兩群的詞。這裡往往最有話講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5577840"/>
            <a:ext cx="10881360" cy="65836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696712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圖太黑看不清：把節點數調到 30 到 50 之間。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實機畫面｜SYNTHESIS → Conceptual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實際畫面：共詞網絡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08176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46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55648"/>
            <a:ext cx="7534655" cy="4390461"/>
          </a:xfrm>
          <a:prstGeom prst="rect">
            <a:avLst/>
          </a:prstGeom>
          <a:noFill/>
          <a:ln w="1524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2_cooccurrence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73936"/>
            <a:ext cx="7498079" cy="435388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339327" y="1773936"/>
            <a:ext cx="3200400" cy="4353885"/>
          </a:xfrm>
          <a:prstGeom prst="rect">
            <a:avLst/>
          </a:prstGeom>
          <a:solidFill>
            <a:srgbClr val="FFFFFF"/>
          </a:solidFill>
          <a:ln w="19050">
            <a:solidFill>
              <a:srgbClr val="E8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39327" y="1773936"/>
            <a:ext cx="3200400" cy="47548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0496" y="1865376"/>
            <a:ext cx="27980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三步驟判讀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7072" y="2432304"/>
            <a:ext cx="2724912" cy="3530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1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1 數群集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3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這張圖分成五個顏色群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1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2 命名群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3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每群抓最大的詞當群名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3 找橋樑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3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同時連到兩群的詞最有話講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太黑看不清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3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節點數調到 30-50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共詞網絡：兩個參數要交代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26464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論文裡要寫明你用了什麼參數，否則結果無法複現。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29384"/>
            <a:ext cx="530352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929384"/>
            <a:ext cx="5303520" cy="47548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020824"/>
            <a:ext cx="490118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參數一：節點數 Number of Nodes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587752"/>
            <a:ext cx="4828031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決定圖上顯示幾個關鍵字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預設 50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太多會糊成一團看不清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太少會漏掉重要連結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建議在 30 到 50 之間調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調到看得懂為止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1929384"/>
            <a:ext cx="530352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E8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929384"/>
            <a:ext cx="5303520" cy="47548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2020824"/>
            <a:ext cx="490118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參數二：圖呈現類型 Layout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587752"/>
            <a:ext cx="4828031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Automatic（預設）、Circle、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Fruchterman &amp; Reingold、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Kamada &amp; Kawai、MDS、Sphere、Star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論文最常用前兩種非預設的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Fruchterman 與 Kamada 會把關係緊密的拉在一起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1" i="0">
                <a:solidFill>
                  <a:srgbClr val="C0392B"/>
                </a:solidFill>
                <a:latin typeface="Arial"/>
                <a:ea typeface="PingFang TC"/>
                <a:cs typeface="PingFang TC"/>
              </a:rPr>
              <a:t>Circle 與 Star 偏展示用，不建議入稿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5532120"/>
            <a:ext cx="10881360" cy="7132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64184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方法章要交代四項：節點數、佈局演算法、分群演算法、正規化方式。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審稿人最愛問的問題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分群穩健嗎：用 ARI 檢驗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08176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55648"/>
            <a:ext cx="10881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「你的分群是不是剛好挑到一組好看的參數？」ARI 就是用來回答這題的。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2304288"/>
          <a:ext cx="6675117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79"/>
                <a:gridCol w="1463039"/>
                <a:gridCol w="2285999"/>
              </a:tblGrid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比較項目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ARI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判讀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Louvain vs Leiden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27AE60"/>
                          </a:solidFill>
                          <a:latin typeface="Arial"/>
                          <a:ea typeface="PingFang TC"/>
                          <a:cs typeface="PingFang TC"/>
                        </a:rPr>
                        <a:t>0.887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27AE60"/>
                          </a:solidFill>
                          <a:latin typeface="Arial"/>
                          <a:ea typeface="PingFang TC"/>
                          <a:cs typeface="PingFang TC"/>
                        </a:rPr>
                        <a:t>很穩健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Louvain vs Walktrap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0.288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演算法邏輯不同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Louvain vs Infomap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C0392B"/>
                          </a:solidFill>
                          <a:latin typeface="Arial"/>
                          <a:ea typeface="PingFang TC"/>
                          <a:cs typeface="PingFang TC"/>
                        </a:rPr>
                        <a:t>0.000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C0392B"/>
                          </a:solidFill>
                          <a:latin typeface="Arial"/>
                          <a:ea typeface="PingFang TC"/>
                          <a:cs typeface="PingFang TC"/>
                        </a:rPr>
                        <a:t>擠成一群，不適用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節點數 50 vs 60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27AE60"/>
                          </a:solidFill>
                          <a:latin typeface="Arial"/>
                          <a:ea typeface="PingFang TC"/>
                          <a:cs typeface="PingFang TC"/>
                        </a:rPr>
                        <a:t>1.000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27AE60"/>
                          </a:solidFill>
                          <a:latin typeface="Arial"/>
                          <a:ea typeface="PingFang TC"/>
                          <a:cs typeface="PingFang TC"/>
                        </a:rPr>
                        <a:t>完全一致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節點數 50 vs 40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0.614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中等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節點數 50 vs 30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C0392B"/>
                          </a:solidFill>
                          <a:latin typeface="Arial"/>
                          <a:ea typeface="PingFang TC"/>
                          <a:cs typeface="PingFang TC"/>
                        </a:rPr>
                        <a:t>0.426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C0392B"/>
                          </a:solidFill>
                          <a:latin typeface="Arial"/>
                          <a:ea typeface="PingFang TC"/>
                          <a:cs typeface="PingFang TC"/>
                        </a:rPr>
                        <a:t>對節點數敏感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571231" y="2304288"/>
            <a:ext cx="3968496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71231" y="2304288"/>
            <a:ext cx="3968496" cy="47548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395728"/>
            <a:ext cx="3566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怎麼用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08975" y="2962656"/>
            <a:ext cx="349300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1" i="0">
                <a:solidFill>
                  <a:srgbClr val="27AE60"/>
                </a:solidFill>
                <a:latin typeface="Arial"/>
                <a:ea typeface="PingFang TC"/>
                <a:cs typeface="PingFang TC"/>
              </a:rPr>
              <a:t>1.0 完全一致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1" i="0">
                <a:solidFill>
                  <a:srgbClr val="27AE60"/>
                </a:solidFill>
                <a:latin typeface="Arial"/>
                <a:ea typeface="PingFang TC"/>
                <a:cs typeface="PingFang TC"/>
              </a:rPr>
              <a:t>0.7 以上 穩健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1" i="0">
                <a:solidFill>
                  <a:srgbClr val="C0392B"/>
                </a:solidFill>
                <a:latin typeface="Arial"/>
                <a:ea typeface="PingFang TC"/>
                <a:cs typeface="PingFang TC"/>
              </a:rPr>
              <a:t>0.5 以下 依賴參數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→ 要寫進研究限制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介面沒有這功能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用課程資料夾的 R 腳本跑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記得 set.seed()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不固定種子每次結果都不同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口訣：右端的新詞就是你的切入點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圖二：趨勢主題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08176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55648"/>
            <a:ext cx="10881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橫軸是年份。看哪些詞是最近才冒出來的。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322576"/>
            <a:ext cx="530352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322576"/>
            <a:ext cx="5303520" cy="47548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414016"/>
            <a:ext cx="490118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怎麼讀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980944"/>
            <a:ext cx="4828031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每個詞會落在它最活躍的年份上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靠左的是老詞，靠右的是新詞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最右端那幾個詞，是這個領域正在發生的事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新詞通常還沒被充分研究，是好的切入點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2322576"/>
            <a:ext cx="530352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8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6208" y="2322576"/>
            <a:ext cx="5303520" cy="47548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2414016"/>
            <a:ext cx="490118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示範案例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980944"/>
            <a:ext cx="4828031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First Nations Education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這個詞要到 2025 年才出現在圖上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不是因為加拿大突然開始研究原住民教育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27AE60"/>
                </a:solidFill>
                <a:latin typeface="Arial"/>
                <a:ea typeface="PingFang TC"/>
                <a:cs typeface="PingFang TC"/>
              </a:rPr>
              <a:t>而是這個領域的用語正在改變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話語權的轉移，本身就是可以寫的發現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本課程最重要的一張圖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圖三：主題地圖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08176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50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883664"/>
            <a:ext cx="3063240" cy="1481328"/>
          </a:xfrm>
          <a:prstGeom prst="rect">
            <a:avLst/>
          </a:prstGeom>
          <a:solidFill>
            <a:srgbClr val="FFFFFF"/>
          </a:solidFill>
          <a:ln w="25400">
            <a:solidFill>
              <a:srgbClr val="5D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2084832"/>
            <a:ext cx="30632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利基主題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450592"/>
            <a:ext cx="3063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Niche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889504"/>
            <a:ext cx="3063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邊緣但成熟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1883664"/>
            <a:ext cx="3063240" cy="1481328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2084832"/>
            <a:ext cx="30632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27AE60"/>
                </a:solidFill>
                <a:latin typeface="Arial"/>
                <a:ea typeface="PingFang TC"/>
                <a:cs typeface="PingFang TC"/>
              </a:rPr>
              <a:t>驅動主題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450592"/>
            <a:ext cx="3063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27AE60"/>
                </a:solidFill>
                <a:latin typeface="Arial"/>
                <a:ea typeface="PingFang TC"/>
                <a:cs typeface="PingFang TC"/>
              </a:rPr>
              <a:t>Motor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889504"/>
            <a:ext cx="3063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核心且成熟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88920" y="3364992"/>
            <a:ext cx="3063240" cy="1481328"/>
          </a:xfrm>
          <a:prstGeom prst="rect">
            <a:avLst/>
          </a:prstGeom>
          <a:solidFill>
            <a:srgbClr val="FFFFFF"/>
          </a:solidFill>
          <a:ln w="25400">
            <a:solidFill>
              <a:srgbClr val="E8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8920" y="3566160"/>
            <a:ext cx="30632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新興或衰退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3931920"/>
            <a:ext cx="3063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Emerging / Declining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4370832"/>
            <a:ext cx="3063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邊緣且不成熟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0" y="3364992"/>
            <a:ext cx="3063240" cy="1481328"/>
          </a:xfrm>
          <a:prstGeom prst="rect">
            <a:avLst/>
          </a:prstGeom>
          <a:solidFill>
            <a:srgbClr val="FFFFFF"/>
          </a:solidFill>
          <a:ln w="254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0" y="3566160"/>
            <a:ext cx="30632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基礎主題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3931920"/>
            <a:ext cx="3063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Basic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4370832"/>
            <a:ext cx="3063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核心但不成熟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3054096"/>
            <a:ext cx="16276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發展度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Density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23744" y="1883664"/>
            <a:ext cx="45720" cy="3008376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23744" y="4846320"/>
            <a:ext cx="6391656" cy="4572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88920" y="5010912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中心性  Centrality  （與其他主題的連結程度）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1883664"/>
            <a:ext cx="2395728" cy="2962656"/>
          </a:xfrm>
          <a:prstGeom prst="rect">
            <a:avLst/>
          </a:prstGeom>
          <a:solidFill>
            <a:srgbClr val="FFFFFF"/>
          </a:solidFill>
          <a:ln w="1905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44000" y="1883664"/>
            <a:ext cx="2395728" cy="47548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1975104"/>
            <a:ext cx="19933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兩個軸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81744" y="2542032"/>
            <a:ext cx="1920240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中心性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2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跟別的主題連得多不多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發展度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2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這個主題內部成熟不成熟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5486400"/>
            <a:ext cx="10881360" cy="768096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596128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口訣：右上別搶、右下寫政策、左上看社群、左下查年份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實機畫面｜500 筆示範資料，介面預設值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實際畫面：主題地圖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08176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51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55648"/>
            <a:ext cx="7534655" cy="4390461"/>
          </a:xfrm>
          <a:prstGeom prst="rect">
            <a:avLst/>
          </a:prstGeom>
          <a:noFill/>
          <a:ln w="1524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0_thematic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73936"/>
            <a:ext cx="7498079" cy="435388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339327" y="1773936"/>
            <a:ext cx="3200400" cy="4353885"/>
          </a:xfrm>
          <a:prstGeom prst="rect">
            <a:avLst/>
          </a:prstGeom>
          <a:solidFill>
            <a:srgbClr val="FFFFFF"/>
          </a:solidFill>
          <a:ln w="19050">
            <a:solidFill>
              <a:srgbClr val="E8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39327" y="1773936"/>
            <a:ext cx="3200400" cy="47548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0496" y="1865376"/>
            <a:ext cx="27980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注意兩件事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7072" y="2432304"/>
            <a:ext cx="2724912" cy="3530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1" i="0">
                <a:solidFill>
                  <a:srgbClr val="C0392B"/>
                </a:solidFill>
                <a:latin typeface="Arial"/>
                <a:ea typeface="PingFang TC"/>
                <a:cs typeface="PingFang TC"/>
              </a:rPr>
              <a:t>打開是空白的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3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要按右上角藍色 ▶ 執行鈕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3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這是最多人卡住的地方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1" i="0">
                <a:solidFill>
                  <a:srgbClr val="27AE60"/>
                </a:solidFill>
                <a:latin typeface="Arial"/>
                <a:ea typeface="PingFang TC"/>
                <a:cs typeface="PingFang TC"/>
              </a:rPr>
              <a:t>象限名稱印在圖上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3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Niche / Motor /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3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Basic / Emerging or Declining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預設就跑出 6 群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3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不必調參數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四個象限分別怎麼用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52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426464"/>
          <a:ext cx="10881360" cy="3895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297680"/>
                <a:gridCol w="4389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象限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意義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怎麼用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E86C00"/>
                          </a:solidFill>
                          <a:latin typeface="Arial"/>
                          <a:ea typeface="PingFang TC"/>
                          <a:cs typeface="PingFang TC"/>
                        </a:rPr>
                        <a:t>驅動主題
Motor（右上）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領域的發展引擎：既與其他主題緊密連結，自己內部也發展成熟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C0392B"/>
                          </a:solidFill>
                          <a:latin typeface="Arial"/>
                          <a:ea typeface="PingFang TC"/>
                          <a:cs typeface="PingFang TC"/>
                        </a:rPr>
                        <a:t>這是目前的主流，當背景交代就好，別當賣點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E86C00"/>
                          </a:solidFill>
                          <a:latin typeface="Arial"/>
                          <a:ea typeface="PingFang TC"/>
                          <a:cs typeface="PingFang TC"/>
                        </a:rPr>
                        <a:t>基礎主題
Basic（右下）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橫貫全領域的基礎議題：大家都碰得到，但內部還沒發展透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E86C00"/>
                          </a:solidFill>
                          <a:latin typeface="Arial"/>
                          <a:ea typeface="PingFang TC"/>
                          <a:cs typeface="PingFang TC"/>
                        </a:rPr>
                        <a:t>重要而未竟，政策診斷價值最高，討論章的金礦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利基主題
Niche（左上）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特定社群深耕的專門議題：內部成熟，但與領域其他部分不連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說明是誰在做、為什麼自成一格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新興或衰退
Emerging / Declining（左下）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E86C00"/>
                          </a:solidFill>
                          <a:latin typeface="Arial"/>
                          <a:ea typeface="PingFang TC"/>
                          <a:cs typeface="PingFang TC"/>
                        </a:rPr>
                        <a:t>弱發展又邊緣：同一象限有兩種完全相反的命運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C0392B"/>
                          </a:solidFill>
                          <a:latin typeface="Arial"/>
                          <a:ea typeface="PingFang TC"/>
                          <a:cs typeface="PingFang TC"/>
                        </a:rPr>
                        <a:t>必須先查年份：集中早年＝衰退，集中近年＝新興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58368" y="5486400"/>
            <a:ext cx="10881360" cy="768096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596128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最容易被誤用的是右上角：看到「大家都在做」就想當賣點，結果寫出來沒有新意。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最常被講錯的地方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左下象限的陷阱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08176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53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10881360" cy="8229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3852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Emerging（剛起步）和 Decline（退場中）落在同一個象限。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76148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兩者的統計特徵一樣（中心性低、發展度低），但意義完全相反。只能靠年份分辨。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18688"/>
            <a:ext cx="530352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18688"/>
            <a:ext cx="5303520" cy="47548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3310128"/>
            <a:ext cx="490118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這個詞主要出現在早期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877056"/>
            <a:ext cx="482803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例如集中在 1996 到 2005 年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600" b="1" i="0">
                <a:solidFill>
                  <a:srgbClr val="C0392B"/>
                </a:solidFill>
                <a:latin typeface="Arial"/>
                <a:ea typeface="PingFang TC"/>
                <a:cs typeface="PingFang TC"/>
              </a:rPr>
              <a:t>判斷：Decline，退場中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這是一個已經被取代的研究取向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寫法：放在歷史回顧段落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8" y="3218688"/>
            <a:ext cx="530352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3218688"/>
            <a:ext cx="5303520" cy="47548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3310128"/>
            <a:ext cx="490118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這個詞主要出現在近期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3877056"/>
            <a:ext cx="482803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例如集中在 2023 到 2026 年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600" b="1" i="0">
                <a:solidFill>
                  <a:srgbClr val="27AE60"/>
                </a:solidFill>
                <a:latin typeface="Arial"/>
                <a:ea typeface="PingFang TC"/>
                <a:cs typeface="PingFang TC"/>
              </a:rPr>
              <a:t>判斷：Emerging，剛起步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這是新興前沿，還沒被充分研究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1" i="0">
                <a:solidFill>
                  <a:srgbClr val="27AE60"/>
                </a:solidFill>
                <a:latin typeface="Arial"/>
                <a:ea typeface="PingFang TC"/>
                <a:cs typeface="PingFang TC"/>
              </a:rPr>
              <a:t>寫法：這就是你的研究缺口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口訣：四種命運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圖四：主題演化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08176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55648"/>
            <a:ext cx="10881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把時間切成幾段（建議十年一段），看主題怎麼流動。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322576"/>
            <a:ext cx="2569464" cy="1188720"/>
          </a:xfrm>
          <a:prstGeom prst="rect">
            <a:avLst/>
          </a:prstGeom>
          <a:solidFill>
            <a:srgbClr val="F2F4F6"/>
          </a:solidFill>
          <a:ln w="1524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487168"/>
            <a:ext cx="25694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長青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017520"/>
            <a:ext cx="235000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三段都在，持續受關注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2322576"/>
            <a:ext cx="2569464" cy="1188720"/>
          </a:xfrm>
          <a:prstGeom prst="rect">
            <a:avLst/>
          </a:prstGeom>
          <a:solidFill>
            <a:srgbClr val="F2F4F6"/>
          </a:solidFill>
          <a:ln w="1524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2487168"/>
            <a:ext cx="25694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起落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3017520"/>
            <a:ext cx="235000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中間冒出來又消失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2322576"/>
            <a:ext cx="2569464" cy="1188720"/>
          </a:xfrm>
          <a:prstGeom prst="rect">
            <a:avLst/>
          </a:prstGeom>
          <a:solidFill>
            <a:srgbClr val="F2F4F6"/>
          </a:solidFill>
          <a:ln w="1524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2487168"/>
            <a:ext cx="25694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合併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017520"/>
            <a:ext cx="235000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兩個主題匯流成一個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70264" y="2322576"/>
            <a:ext cx="2569464" cy="1188720"/>
          </a:xfrm>
          <a:prstGeom prst="rect">
            <a:avLst/>
          </a:prstGeom>
          <a:solidFill>
            <a:srgbClr val="F2F4F6"/>
          </a:solidFill>
          <a:ln w="1524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0264" y="2487168"/>
            <a:ext cx="25694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新興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9992" y="3017520"/>
            <a:ext cx="235000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最後一段才出現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767328"/>
            <a:ext cx="530352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767328"/>
            <a:ext cx="5303520" cy="47548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3858768"/>
            <a:ext cx="490118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怎麼切時段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425696"/>
            <a:ext cx="4828031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示範案例：1996-2005 / 2006-2015 / 2016-2026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1" i="0">
                <a:solidFill>
                  <a:srgbClr val="C0392B"/>
                </a:solidFill>
                <a:latin typeface="Arial"/>
                <a:ea typeface="PingFang TC"/>
                <a:cs typeface="PingFang TC"/>
              </a:rPr>
              <a:t>資料量不夠時只能切兩段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早期筆數太少，切三段會跑不出來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36208" y="3767328"/>
            <a:ext cx="530352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8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3767328"/>
            <a:ext cx="5303520" cy="47548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37376" y="3858768"/>
            <a:ext cx="490118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寫作重點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4425696"/>
            <a:ext cx="4828031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主題演化圖的價值在「變化」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1" i="0">
                <a:solidFill>
                  <a:srgbClr val="C0392B"/>
                </a:solidFill>
                <a:latin typeface="Arial"/>
                <a:ea typeface="PingFang TC"/>
                <a:cs typeface="PingFang TC"/>
              </a:rPr>
              <a:t>單一時段的地圖不叫演化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要跨期比較才算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主題演化的進階用法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55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426464"/>
            <a:ext cx="10881360" cy="914400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2763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不切時間，改切國家。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523744"/>
            <a:ext cx="10881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同一個工具，換一個切法，就是一個新的研究切角。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980944"/>
            <a:ext cx="530352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5D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2980944"/>
            <a:ext cx="5303520" cy="475488"/>
          </a:xfrm>
          <a:prstGeom prst="rect">
            <a:avLst/>
          </a:prstGeom>
          <a:solidFill>
            <a:srgbClr val="5D6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3072384"/>
            <a:ext cx="490118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一般做法：切時間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639311"/>
            <a:ext cx="4828031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1996-2005 / 2006-2015 / 2016-2026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回答：這個領域怎麼演變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1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做的人多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8" y="2980944"/>
            <a:ext cx="530352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2980944"/>
            <a:ext cx="5303520" cy="47548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3072384"/>
            <a:ext cx="490118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進階做法：切國家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3639311"/>
            <a:ext cx="4828031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台灣 vs 國際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回答：台灣跟國際關心的主題一樣嗎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1" i="0">
                <a:solidFill>
                  <a:srgbClr val="27AE60"/>
                </a:solidFill>
                <a:latin typeface="Arial"/>
                <a:ea typeface="PingFang TC"/>
                <a:cs typeface="PingFang TC"/>
              </a:rPr>
              <a:t>國科會的英文期刊主編偏好跨國比較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口訣：兩維加總定分散度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圖五：概念結構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08176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55648"/>
            <a:ext cx="10881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MCA 圖會給你第一維和第二維的解釋量。把兩個數字加起來。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2322576"/>
          <a:ext cx="1088136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931920"/>
                <a:gridCol w="5120640"/>
              </a:tblGrid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兩維加總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代表什麼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怎麼寫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約 30%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 i="0">
                          <a:solidFill>
                            <a:srgbClr val="E86C00"/>
                          </a:solidFill>
                          <a:latin typeface="Arial"/>
                          <a:ea typeface="PingFang TC"/>
                          <a:cs typeface="PingFang TC"/>
                        </a:rPr>
                        <a:t>主題分散，百家爭鳴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這個領域還沒收斂，次領域各自發展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70-80%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 i="0">
                          <a:solidFill>
                            <a:srgbClr val="E86C00"/>
                          </a:solidFill>
                          <a:latin typeface="Arial"/>
                          <a:ea typeface="PingFang TC"/>
                          <a:cs typeface="PingFang TC"/>
                        </a:rPr>
                        <a:t>主題集中，有明確主流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這個領域已經形成共識核心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4133087"/>
            <a:ext cx="530352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4133087"/>
            <a:ext cx="5303520" cy="47548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4224527"/>
            <a:ext cx="490118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示範案例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791455"/>
            <a:ext cx="482803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第一維 18.59% ＋ 第二維 11.97%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加總約 30%，屬於分散型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8" y="4133087"/>
            <a:ext cx="530352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4133087"/>
            <a:ext cx="5303520" cy="47548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4224527"/>
            <a:ext cx="490118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解釋量很低怎麼辦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4791455"/>
            <a:ext cx="482803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27AE60"/>
                </a:solidFill>
                <a:latin typeface="Arial"/>
                <a:ea typeface="PingFang TC"/>
                <a:cs typeface="PingFang TC"/>
              </a:rPr>
              <a:t>這是結果，不是錯誤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照寫，在討論章解釋這個領域為何分散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BiblioShiny 實機實測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關鍵字欄位比參數更重要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08176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55648"/>
            <a:ext cx="10881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同一份 500 筆資料，換一個關鍵字欄位，結果天差地遠。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2304288"/>
          <a:ext cx="10881360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463040"/>
                <a:gridCol w="3566160"/>
                <a:gridCol w="2743200"/>
              </a:tblGrid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關鍵字欄位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缺漏率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minfreq=5 的結果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建議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 i="0">
                          <a:solidFill>
                            <a:srgbClr val="E86C00"/>
                          </a:solidFill>
                          <a:latin typeface="Arial"/>
                          <a:ea typeface="PingFang TC"/>
                          <a:cs typeface="PingFang TC"/>
                        </a:rPr>
                        <a:t>All Keywords（KW_Merged）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 i="0">
                          <a:solidFill>
                            <a:srgbClr val="27AE60"/>
                          </a:solidFill>
                          <a:latin typeface="Arial"/>
                          <a:ea typeface="PingFang TC"/>
                          <a:cs typeface="PingFang TC"/>
                        </a:rPr>
                        <a:t>低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 i="0">
                          <a:solidFill>
                            <a:srgbClr val="27AE60"/>
                          </a:solidFill>
                          <a:latin typeface="Arial"/>
                          <a:ea typeface="PingFang TC"/>
                          <a:cs typeface="PingFang TC"/>
                        </a:rPr>
                        <a:t>乾淨 6 群，四象限清楚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 i="0">
                          <a:solidFill>
                            <a:srgbClr val="E86C00"/>
                          </a:solidFill>
                          <a:latin typeface="Arial"/>
                          <a:ea typeface="PingFang TC"/>
                          <a:cs typeface="PingFang TC"/>
                        </a:rPr>
                        <a:t>介面預設，直接用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Keywords Plus（ID）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 i="0">
                          <a:solidFill>
                            <a:srgbClr val="C0392B"/>
                          </a:solidFill>
                          <a:latin typeface="Arial"/>
                          <a:ea typeface="PingFang TC"/>
                          <a:cs typeface="PingFang TC"/>
                        </a:rPr>
                        <a:t>缺 32.4%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 i="0">
                          <a:solidFill>
                            <a:srgbClr val="C0392B"/>
                          </a:solidFill>
                          <a:latin typeface="Arial"/>
                          <a:ea typeface="PingFang TC"/>
                          <a:cs typeface="PingFang TC"/>
                        </a:rPr>
                        <a:t>9 群，破碎難讀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要調到 30 才看得懂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3904487"/>
            <a:ext cx="530352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904487"/>
            <a:ext cx="5303520" cy="47548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3995927"/>
            <a:ext cx="490118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實務建議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562855"/>
            <a:ext cx="4828031" cy="9143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先用介面預設值跑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All Keywords、250 字、minfreq 5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群太多就調高、只剩一兩群就調低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8" y="3904487"/>
            <a:ext cx="530352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3904487"/>
            <a:ext cx="5303520" cy="47548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3995927"/>
            <a:ext cx="490118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為什麼會差這麼多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4562855"/>
            <a:ext cx="4828031" cy="9143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Keywords Plus 是資料庫自動產生的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1" i="0">
                <a:solidFill>
                  <a:srgbClr val="C0392B"/>
                </a:solidFill>
                <a:latin typeface="Arial"/>
                <a:ea typeface="PingFang TC"/>
                <a:cs typeface="PingFang TC"/>
              </a:rPr>
              <a:t>這份資料有三成文章根本沒有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作者關鍵字（DE）才是作者自己寫的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5577840"/>
            <a:ext cx="10881360" cy="65836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696712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審稿人會問「結論是否依賴特定參數」。跑三個 minfreq 做對照，就是答案。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實機畫面｜不要只貼圖不寫數字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Clusters 分頁：論文要引的數字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08176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58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55648"/>
            <a:ext cx="7534655" cy="4390461"/>
          </a:xfrm>
          <a:prstGeom prst="rect">
            <a:avLst/>
          </a:prstGeom>
          <a:noFill/>
          <a:ln w="1524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1_thematic_clusters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73936"/>
            <a:ext cx="7498079" cy="435388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339327" y="1773936"/>
            <a:ext cx="3200400" cy="4353885"/>
          </a:xfrm>
          <a:prstGeom prst="rect">
            <a:avLst/>
          </a:prstGeom>
          <a:solidFill>
            <a:srgbClr val="FFFFFF"/>
          </a:solidFill>
          <a:ln w="19050">
            <a:solidFill>
              <a:srgbClr val="E8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39327" y="1773936"/>
            <a:ext cx="3200400" cy="47548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0496" y="1865376"/>
            <a:ext cx="27980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這些數字要抄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7072" y="2432304"/>
            <a:ext cx="2724912" cy="3530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1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Callon 中心性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1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Callon 密度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3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兩個排名欄位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3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群內頻次 ClusterFrequency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示範案例解出 6 群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3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每群都有對應數值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1" i="0">
                <a:solidFill>
                  <a:srgbClr val="27AE60"/>
                </a:solidFill>
                <a:latin typeface="Arial"/>
                <a:ea typeface="PingFang TC"/>
                <a:cs typeface="PingFang TC"/>
              </a:rPr>
              <a:t>寫法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3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圖配詮釋，詮釋裡要帶數字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用詞：cluster 中文說「群集」，不說「簇」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群集的三個指標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08176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556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每個群集要報告三個指標，分別在兩個不同的分頁。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2258568"/>
          <a:ext cx="10881360" cy="2505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377440"/>
                <a:gridCol w="3108960"/>
                <a:gridCol w="4114800"/>
              </a:tblGrid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指標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英文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在哪裡看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意義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E86C00"/>
                          </a:solidFill>
                          <a:latin typeface="Arial"/>
                          <a:ea typeface="PingFang TC"/>
                          <a:cs typeface="PingFang TC"/>
                        </a:rPr>
                        <a:t>中心性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Callon Centrality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主題地圖 → Clusters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該群集與其他群集的連結強度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E86C00"/>
                          </a:solidFill>
                          <a:latin typeface="Arial"/>
                          <a:ea typeface="PingFang TC"/>
                          <a:cs typeface="PingFang TC"/>
                        </a:rPr>
                        <a:t>密度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Callon Density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主題地圖 → Clusters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該群集內部關鍵詞的凝聚程度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E86C00"/>
                          </a:solidFill>
                          <a:latin typeface="Arial"/>
                          <a:ea typeface="PingFang TC"/>
                          <a:cs typeface="PingFang TC"/>
                        </a:rPr>
                        <a:t>跨集性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Betweenness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E86C00"/>
                          </a:solidFill>
                          <a:latin typeface="Arial"/>
                          <a:ea typeface="PingFang TC"/>
                          <a:cs typeface="PingFang TC"/>
                        </a:rPr>
                        <a:t>共詞網絡 → Table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E86C00"/>
                          </a:solidFill>
                          <a:latin typeface="Arial"/>
                          <a:ea typeface="PingFang TC"/>
                          <a:cs typeface="PingFang TC"/>
                        </a:rPr>
                        <a:t>該節點扮演「橋樑」的程度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4590288"/>
            <a:ext cx="530352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8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4590288"/>
            <a:ext cx="5303520" cy="47548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4681727"/>
            <a:ext cx="490118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跨集性為什麼重要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5248655"/>
            <a:ext cx="48280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高跨集性的詞橫跨兩個以上群集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是不同次領域之間的連接點，最有論述價值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8" y="4590288"/>
            <a:ext cx="530352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4590288"/>
            <a:ext cx="5303520" cy="47548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4681727"/>
            <a:ext cx="490118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示範資料實測前四名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5248655"/>
            <a:ext cx="48280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1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education 0.121　knowledge 0.111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1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experiences 0.071　pedagogy 0.065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874519"/>
            <a:ext cx="82296" cy="2286000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304288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動手跑自己的題目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401568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 i="0">
                <a:solidFill>
                  <a:srgbClr val="BFD7EA"/>
                </a:solidFill>
                <a:latin typeface="Arial"/>
                <a:ea typeface="PingFang TC"/>
                <a:cs typeface="PingFang TC"/>
              </a:rPr>
              <a:t>資料可以回家重跑，成就感不能回家補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4343400"/>
            <a:ext cx="1691640" cy="420624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425696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95 分鐘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教授特別交代的一點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分組討論：為什麼要用自己的題目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08176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61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10881360" cy="9144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5681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今天跑出來的語料與分析，就是你論文第二章的底稿。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898648"/>
            <a:ext cx="530352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2898648"/>
            <a:ext cx="5303520" cy="47548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990088"/>
            <a:ext cx="490118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跟著示範檔跑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557015"/>
            <a:ext cx="4828031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學會操作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C0392B"/>
                </a:solidFill>
                <a:latin typeface="Arial"/>
                <a:ea typeface="PingFang TC"/>
                <a:cs typeface="PingFang TC"/>
              </a:rPr>
              <a:t>下課就沒了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回家還要從頭再來一次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而且那是別人的題目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8" y="2898648"/>
            <a:ext cx="530352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2898648"/>
            <a:ext cx="5303520" cy="47548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2990088"/>
            <a:ext cx="490118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用自己的題目跑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3557015"/>
            <a:ext cx="4828031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一樣學會操作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27AE60"/>
                </a:solidFill>
                <a:latin typeface="Arial"/>
                <a:ea typeface="PingFang TC"/>
                <a:cs typeface="PingFang TC"/>
              </a:rPr>
              <a:t>帶走的是論文的一部分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文獻庫直接建起來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第二章有了骨架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5577840"/>
            <a:ext cx="10881360" cy="65836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696712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分組討論時互相說明：我的主題、我的關鍵字、為什麼。組員聽不懂的地方，就是你檢索式會漏的地方。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60 分鐘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工坊一：跑到自己的主題地圖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08176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62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47088"/>
            <a:ext cx="3401568" cy="2971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D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847088"/>
            <a:ext cx="3401568" cy="475488"/>
          </a:xfrm>
          <a:prstGeom prst="rect">
            <a:avLst/>
          </a:prstGeom>
          <a:solidFill>
            <a:srgbClr val="5D6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938528"/>
            <a:ext cx="34015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情境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523744"/>
            <a:ext cx="29260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4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上午你定了題目和檢索式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4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示範資料是別人的題目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4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現在換成你自己的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8224" y="3172968"/>
            <a:ext cx="2834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79976" y="1847088"/>
            <a:ext cx="3401568" cy="2971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9976" y="1847088"/>
            <a:ext cx="3401568" cy="47548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9976" y="1938528"/>
            <a:ext cx="34015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步驟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523744"/>
            <a:ext cx="29260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4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掛 VPN，用自己的 query 下載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4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匯入 BiblioShiny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4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一路跑到主題地圖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4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調 minfreq 到四五群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4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圖和表都存下來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9831" y="3172968"/>
            <a:ext cx="2834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1584" y="1847088"/>
            <a:ext cx="3401568" cy="2971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1584" y="1847088"/>
            <a:ext cx="3401568" cy="47548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01584" y="1938528"/>
            <a:ext cx="34015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收穫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2523744"/>
            <a:ext cx="29260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4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一張屬於你自己題目的主題地圖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4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工作單表 B 填完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4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知道自己領域分成哪幾個次領域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5577840"/>
            <a:ext cx="10881360" cy="65836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696712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我會每十分鐘巡一輪。有問題不要自己卡，舉手。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卡住怎麼辦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63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26464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這四種狀況最常見。先看這張表，再舉手。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929384"/>
          <a:ext cx="1088136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743200"/>
                <a:gridCol w="5486400"/>
              </a:tblGrid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狀況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原因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怎麼辦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VPN 連不上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網路或憑證問題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 i="0">
                          <a:solidFill>
                            <a:srgbClr val="E86C00"/>
                          </a:solidFill>
                          <a:latin typeface="Arial"/>
                          <a:ea typeface="PingFang TC"/>
                          <a:cs typeface="PingFang TC"/>
                        </a:rPr>
                        <a:t>先用示範資料集往前走，不要卡在這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筆數太少（不到 100）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檢索式太窄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放寬：去掉學科類別限制，或加同義詞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筆數很多（超過 5000）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正常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 i="0">
                          <a:solidFill>
                            <a:srgbClr val="27AE60"/>
                          </a:solidFill>
                          <a:latin typeface="Arial"/>
                          <a:ea typeface="PingFang TC"/>
                          <a:cs typeface="PingFang TC"/>
                        </a:rPr>
                        <a:t>不用縮，照跑。筆數多不是問題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主題地圖群數不對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minfreq 設定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群太多調高、只剩一群調低。目標四五群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58368" y="5486400"/>
            <a:ext cx="10881360" cy="768096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96128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原則：不要讓自己卡超過十分鐘。資料可以回家重跑，「今天做出一張圖」的成就感不能回家補。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35 分鐘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工坊二：把圖寫成文字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08176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64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10881360" cy="80467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這一步是從「會操作」跨到「會寫論文」的關鍵。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7432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圖跑得漂亮但不會寫，圖就廢了。照這個骨架填空。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172968"/>
            <a:ext cx="10881360" cy="2331720"/>
          </a:xfrm>
          <a:prstGeom prst="rect">
            <a:avLst/>
          </a:prstGeom>
          <a:solidFill>
            <a:srgbClr val="F2F4F6"/>
          </a:solidFill>
          <a:ln w="1905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401568"/>
            <a:ext cx="102412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圖 X：標題（含資料來源、筆數、檢索日期）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詮釋：本圖呈現 ____________，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     可清晰辨識 ____________ 等 ___ 個特徵，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     對應研究問題 ____________，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     與圖 ___ 相互驗證／差異在於 ____________，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     較 ____________（既有研究）顯示 ____________。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詮釋寫法：示範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26464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同一張圖，兩種寫法。差別在有沒有回答「所以呢」。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29384"/>
            <a:ext cx="530352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929384"/>
            <a:ext cx="5303520" cy="47548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029968"/>
            <a:ext cx="5303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只描述，沒有詮釋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9464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「圖 4.6 為主題地圖。圖中可見四個聚落，分別位於不同象限。Motor 象限包含三個關鍵詞，Basic 象限包含五個關鍵詞。」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C0392B"/>
                </a:solidFill>
                <a:latin typeface="Arial"/>
                <a:ea typeface="PingFang TC"/>
                <a:cs typeface="PingFang TC"/>
              </a:rPr>
              <a:t>問題：讀者看完不知道這代表什麼。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1929384"/>
            <a:ext cx="530352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929384"/>
            <a:ext cx="5303520" cy="47548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6208" y="2029968"/>
            <a:ext cx="5303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有詮釋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569464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「圖 4.6 顯示本領域已分化為四個聚落。值得注意的是語言復振相關詞彙落在 Basic 象限——中心性高但內部成熟度低，顯示此議題雖被廣泛觸及，卻缺乏深化研究，正是本研究切入的缺口。」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27AE60"/>
                </a:solidFill>
                <a:latin typeface="Arial"/>
                <a:ea typeface="PingFang TC"/>
                <a:cs typeface="PingFang TC"/>
              </a:rPr>
              <a:t>差別：指出了研究缺口在哪。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874519"/>
            <a:ext cx="82296" cy="2286000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304288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收尾與下一步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401568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 i="0">
                <a:solidFill>
                  <a:srgbClr val="BFD7EA"/>
                </a:solidFill>
                <a:latin typeface="Arial"/>
                <a:ea typeface="PingFang TC"/>
                <a:cs typeface="PingFang TC"/>
              </a:rPr>
              <a:t>今天的產出，怎麼變成一篇論文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4343400"/>
            <a:ext cx="1691640" cy="420624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425696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25 分鐘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各組快報：三句話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67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26464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每組兩分鐘，講三句話就好。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93392"/>
            <a:ext cx="868680" cy="9144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240280"/>
            <a:ext cx="868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27632" y="1993392"/>
            <a:ext cx="9912096" cy="914400"/>
          </a:xfrm>
          <a:prstGeom prst="rect">
            <a:avLst/>
          </a:prstGeom>
          <a:solidFill>
            <a:srgbClr val="F2F4F6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4519" y="2139696"/>
            <a:ext cx="9418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我的題目是什麼，反向搜尋結論是真藍海還是半藍海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514600"/>
            <a:ext cx="94183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這一句檢驗你有沒有真的做反向搜尋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108960"/>
            <a:ext cx="868680" cy="9144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355848"/>
            <a:ext cx="868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27632" y="3108960"/>
            <a:ext cx="9912096" cy="914400"/>
          </a:xfrm>
          <a:prstGeom prst="rect">
            <a:avLst/>
          </a:prstGeom>
          <a:solidFill>
            <a:srgbClr val="F2F4F6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74519" y="3255264"/>
            <a:ext cx="9418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主題地圖跑出幾群，哪一群最有話講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630168"/>
            <a:ext cx="94183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這一句檢驗你看不看得懂自己的圖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224528"/>
            <a:ext cx="868680" cy="9144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471416"/>
            <a:ext cx="868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27632" y="4224528"/>
            <a:ext cx="9912096" cy="914400"/>
          </a:xfrm>
          <a:prstGeom prst="rect">
            <a:avLst/>
          </a:prstGeom>
          <a:solidFill>
            <a:srgbClr val="F2F4F6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74519" y="4370832"/>
            <a:ext cx="9418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我打算投哪一本期刊，為什麼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4745736"/>
            <a:ext cx="94183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這一句檢驗你有沒有用到投稿情報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669280"/>
            <a:ext cx="10881360" cy="603504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779008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聽的人每組給一個「我會追問的問題」。這是在練習預判審稿人。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投稿前自我檢查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68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426464"/>
          <a:ext cx="10881359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0332719"/>
              </a:tblGrid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/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PingFang TC"/>
                          <a:cs typeface="PingFang TC"/>
                        </a:rPr>
                        <a:t>檢查項目</a:t>
                      </a:r>
                    </a:p>
                  </a:txBody>
                  <a:tcPr marL="100584" marR="73152" marT="27432" marB="27432" anchor="ctr">
                    <a:solidFill>
                      <a:srgbClr val="1B4F7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1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五個篩選參數（資料庫、時段、文件類型、類別、語言）全部寫進方法章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2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當年度數字偏低這件事，在結果章有交代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3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每一張圖都有配一段詮釋，不是只有圖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4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E86C00"/>
                          </a:solidFill>
                          <a:latin typeface="Arial"/>
                          <a:ea typeface="PingFang TC"/>
                          <a:cs typeface="PingFang TC"/>
                        </a:rPr>
                        <a:t>主題地圖的四個象限都有解讀，不是只講右上角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5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E86C00"/>
                          </a:solidFill>
                          <a:latin typeface="Arial"/>
                          <a:ea typeface="PingFang TC"/>
                          <a:cs typeface="PingFang TC"/>
                        </a:rPr>
                        <a:t>左下象限的詞，有查過年份才判斷是新興還是退場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6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minfreq 做過敏感性對照（至少三個值）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7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E86C00"/>
                          </a:solidFill>
                          <a:latin typeface="Arial"/>
                          <a:ea typeface="PingFang TC"/>
                          <a:cs typeface="PingFang TC"/>
                        </a:rPr>
                        <a:t>必引作者清單上的人，確認每一位都引到了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8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C3E50"/>
                          </a:solidFill>
                          <a:latin typeface="Arial"/>
                          <a:ea typeface="PingFang TC"/>
                          <a:cs typeface="PingFang TC"/>
                        </a:rPr>
                        <a:t>所有引用的文獻，都查過 DOI 和作者，沒有憑印象寫的</a:t>
                      </a:r>
                    </a:p>
                  </a:txBody>
                  <a:tcPr marL="100584" marR="73152" marT="27432" marB="27432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1B4F72"/>
                </a:solidFill>
                <a:latin typeface="Arial"/>
                <a:ea typeface="PingFang TC"/>
                <a:cs typeface="PingFang TC"/>
              </a:rPr>
              <a:t>回家三件事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114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文獻計量分析  |  2026/10/17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82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D6D7E"/>
                </a:solidFill>
                <a:latin typeface="Arial"/>
                <a:ea typeface="PingFang TC"/>
                <a:cs typeface="PingFang TC"/>
              </a:rPr>
              <a:t>69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426464"/>
            <a:ext cx="342900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426464"/>
            <a:ext cx="3429000" cy="47548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517904"/>
            <a:ext cx="30266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一、重跑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084832"/>
            <a:ext cx="2953512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今天用示範資料跑的流程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換成自己的完整資料再跑一次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趁記憶還熱，這週就做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卡住的話在群組問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426464"/>
            <a:ext cx="342900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8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426464"/>
            <a:ext cx="3429000" cy="47548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517904"/>
            <a:ext cx="30266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二、組隊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2084832"/>
            <a:ext cx="2953512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找兩三個人互相掛名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工作量攤平，產出翻倍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一個人跑三篇不如三個人各跑一篇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彼此當第一個審稿人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19872" y="1426464"/>
            <a:ext cx="3419856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19872" y="1426464"/>
            <a:ext cx="3419856" cy="47548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517904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三、開始寫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6" y="2084832"/>
            <a:ext cx="294436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照結果章的八節結構走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每節一張圖加一段詮釋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1" i="0">
                <a:solidFill>
                  <a:srgbClr val="27AE60"/>
                </a:solidFill>
                <a:latin typeface="Arial"/>
                <a:ea typeface="PingFang TC"/>
                <a:cs typeface="PingFang TC"/>
              </a:rPr>
              <a:t>先把圖排好，文字會比較好寫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.  </a:t>
            </a:r>
            <a:r>
              <a:rPr sz="1500" b="0" i="0">
                <a:solidFill>
                  <a:srgbClr val="2C3E50"/>
                </a:solidFill>
                <a:latin typeface="Arial"/>
                <a:ea typeface="PingFang TC"/>
                <a:cs typeface="PingFang TC"/>
              </a:rPr>
              <a:t>操作手冊我會上傳群組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1234440"/>
            <a:ext cx="91440" cy="3566160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118872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最後三句話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783080"/>
            <a:ext cx="99669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今天你手上有一張圖、一份期刊清單、一段詮釋。</a:t>
            </a:r>
          </a:p>
          <a:p>
            <a:pPr algn="l">
              <a:lnSpc>
                <a:spcPct val="115000"/>
              </a:lnSpc>
              <a:spcAft>
                <a:spcPts val="3000"/>
              </a:spcAft>
            </a:pPr>
            <a:r>
              <a:rPr sz="2600" b="1" i="0">
                <a:solidFill>
                  <a:srgbClr val="FFFFFF"/>
                </a:solidFill>
                <a:latin typeface="Arial"/>
                <a:ea typeface="PingFang TC"/>
                <a:cs typeface="PingFang TC"/>
              </a:rPr>
              <a:t>這是一篇論文的前百分之二十。</a:t>
            </a:r>
          </a:p>
          <a:p>
            <a:pPr algn="l">
              <a:lnSpc>
                <a:spcPct val="115000"/>
              </a:lnSpc>
              <a:spcAft>
                <a:spcPts val="2800"/>
              </a:spcAft>
            </a:pPr>
            <a:r>
              <a:rPr sz="2200" b="0" i="0">
                <a:solidFill>
                  <a:srgbClr val="BFD7EA"/>
                </a:solidFill>
                <a:latin typeface="Arial"/>
                <a:ea typeface="PingFang TC"/>
                <a:cs typeface="PingFang TC"/>
              </a:rPr>
              <a:t>被退稿不是壞事，是免費的審稿意見。把洞補起來再投就好。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E86C00"/>
                </a:solidFill>
                <a:latin typeface="Arial"/>
                <a:ea typeface="PingFang TC"/>
                <a:cs typeface="PingFang TC"/>
              </a:rPr>
              <a:t>我們在跟時間賽跑。這套技術的門檻正在降低，趁現在。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539496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BFD7EA"/>
                </a:solidFill>
                <a:latin typeface="Arial"/>
                <a:ea typeface="PingFang TC"/>
                <a:cs typeface="PingFang TC"/>
              </a:rPr>
              <a:t>講師：李政蒲   |   2026 / 10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